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680304d65e4202" /><Relationship Type="http://schemas.openxmlformats.org/officeDocument/2006/relationships/extended-properties" Target="/docProps/app.xml" Id="Rdac62bf2a8544c51" /><Relationship Type="http://schemas.openxmlformats.org/officeDocument/2006/relationships/officeDocument" Target="/ppt/presentation.xml" Id="Rcabef9518f2a46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7f75f54aaa44cc"/>
  </p:sldMasterIdLst>
  <p:notesMasterIdLst>
    <p:notesMasterId xmlns:r="http://schemas.openxmlformats.org/officeDocument/2006/relationships" r:id="Rad90e0e657cf4414"/>
  </p:notesMasterIdLst>
  <p:sldIdLst>
    <p:sldId xmlns:r="http://schemas.openxmlformats.org/officeDocument/2006/relationships" id="256" r:id="R0b3d67ebaf174891"/>
    <p:sldId xmlns:r="http://schemas.openxmlformats.org/officeDocument/2006/relationships" id="257" r:id="Rd087a07c4cbe461c"/>
    <p:sldId xmlns:r="http://schemas.openxmlformats.org/officeDocument/2006/relationships" id="258" r:id="R6edf960f5d7f41f4"/>
    <p:sldId xmlns:r="http://schemas.openxmlformats.org/officeDocument/2006/relationships" id="259" r:id="R73ff147f57fb47f2"/>
    <p:sldId xmlns:r="http://schemas.openxmlformats.org/officeDocument/2006/relationships" id="260" r:id="Rfae8a687aef84c4d"/>
    <p:sldId xmlns:r="http://schemas.openxmlformats.org/officeDocument/2006/relationships" id="261" r:id="R25d226a620604e33"/>
    <p:sldId xmlns:r="http://schemas.openxmlformats.org/officeDocument/2006/relationships" id="262" r:id="R1b1900d6557d46aa"/>
    <p:sldId xmlns:r="http://schemas.openxmlformats.org/officeDocument/2006/relationships" id="263" r:id="Rc4ef5d38bca349b5"/>
    <p:sldId xmlns:r="http://schemas.openxmlformats.org/officeDocument/2006/relationships" id="264" r:id="Rf10ddcd19cfb4e1b"/>
    <p:sldId xmlns:r="http://schemas.openxmlformats.org/officeDocument/2006/relationships" id="265" r:id="R502357f356fe4f74"/>
    <p:sldId xmlns:r="http://schemas.openxmlformats.org/officeDocument/2006/relationships" id="266" r:id="Rfcf16043abf54b32"/>
    <p:sldId xmlns:r="http://schemas.openxmlformats.org/officeDocument/2006/relationships" id="267" r:id="R104e895d60f145ab"/>
    <p:sldId xmlns:r="http://schemas.openxmlformats.org/officeDocument/2006/relationships" id="268" r:id="Re7efcedd70e4437e"/>
    <p:sldId xmlns:r="http://schemas.openxmlformats.org/officeDocument/2006/relationships" id="269" r:id="R4e4c93037945491d"/>
    <p:sldId xmlns:r="http://schemas.openxmlformats.org/officeDocument/2006/relationships" id="270" r:id="Re747e51460e14d0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7f75f54aaa44cc" /><Relationship Type="http://schemas.openxmlformats.org/officeDocument/2006/relationships/theme" Target="/ppt/theme/theme1.xml" Id="R8a396f43adc040ef" /><Relationship Type="http://schemas.openxmlformats.org/officeDocument/2006/relationships/notesMaster" Target="/ppt/notesMasters/notesMaster1.xml" Id="Rad90e0e657cf4414" /><Relationship Type="http://schemas.openxmlformats.org/officeDocument/2006/relationships/presProps" Target="/ppt/presProps.xml" Id="R5d3121a1589a4ae1" /><Relationship Type="http://schemas.openxmlformats.org/officeDocument/2006/relationships/viewProps" Target="/ppt/viewProps.xml" Id="R75600035a29849bd" /><Relationship Type="http://schemas.openxmlformats.org/officeDocument/2006/relationships/tableStyles" Target="/ppt/tableStyles.xml" Id="R1c7d4f7d5a36497f" /><Relationship Type="http://schemas.openxmlformats.org/officeDocument/2006/relationships/slide" Target="/ppt/slides/slide1.xml" Id="R0b3d67ebaf174891" /><Relationship Type="http://schemas.openxmlformats.org/officeDocument/2006/relationships/slide" Target="/ppt/slides/slide2.xml" Id="Rd087a07c4cbe461c" /><Relationship Type="http://schemas.openxmlformats.org/officeDocument/2006/relationships/slide" Target="/ppt/slides/slide3.xml" Id="R6edf960f5d7f41f4" /><Relationship Type="http://schemas.openxmlformats.org/officeDocument/2006/relationships/slide" Target="/ppt/slides/slide4.xml" Id="R73ff147f57fb47f2" /><Relationship Type="http://schemas.openxmlformats.org/officeDocument/2006/relationships/slide" Target="/ppt/slides/slide5.xml" Id="Rfae8a687aef84c4d" /><Relationship Type="http://schemas.openxmlformats.org/officeDocument/2006/relationships/slide" Target="/ppt/slides/slide6.xml" Id="R25d226a620604e33" /><Relationship Type="http://schemas.openxmlformats.org/officeDocument/2006/relationships/slide" Target="/ppt/slides/slide7.xml" Id="R1b1900d6557d46aa" /><Relationship Type="http://schemas.openxmlformats.org/officeDocument/2006/relationships/slide" Target="/ppt/slides/slide8.xml" Id="Rc4ef5d38bca349b5" /><Relationship Type="http://schemas.openxmlformats.org/officeDocument/2006/relationships/slide" Target="/ppt/slides/slide9.xml" Id="Rf10ddcd19cfb4e1b" /><Relationship Type="http://schemas.openxmlformats.org/officeDocument/2006/relationships/slide" Target="/ppt/slides/slide10.xml" Id="R502357f356fe4f74" /><Relationship Type="http://schemas.openxmlformats.org/officeDocument/2006/relationships/slide" Target="/ppt/slides/slide11.xml" Id="Rfcf16043abf54b32" /><Relationship Type="http://schemas.openxmlformats.org/officeDocument/2006/relationships/slide" Target="/ppt/slides/slide12.xml" Id="R104e895d60f145ab" /><Relationship Type="http://schemas.openxmlformats.org/officeDocument/2006/relationships/slide" Target="/ppt/slides/slide13.xml" Id="Re7efcedd70e4437e" /><Relationship Type="http://schemas.openxmlformats.org/officeDocument/2006/relationships/slide" Target="/ppt/slides/slide14.xml" Id="R4e4c93037945491d" /><Relationship Type="http://schemas.openxmlformats.org/officeDocument/2006/relationships/slide" Target="/ppt/slides/slide15.xml" Id="Re747e51460e14d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0b3dda1680c41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e9bc7899844bd3" /><Relationship Type="http://schemas.openxmlformats.org/officeDocument/2006/relationships/notesMaster" Target="/ppt/notesMasters/notesMaster1.xml" Id="R9d9d119a043044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c57d684d534bbd" /><Relationship Type="http://schemas.openxmlformats.org/officeDocument/2006/relationships/notesMaster" Target="/ppt/notesMasters/notesMaster1.xml" Id="Rccdb6ba7c50447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cda01eb9a7436b" /><Relationship Type="http://schemas.openxmlformats.org/officeDocument/2006/relationships/notesMaster" Target="/ppt/notesMasters/notesMaster1.xml" Id="R702f83588c7447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1970f5bbf44926" /><Relationship Type="http://schemas.openxmlformats.org/officeDocument/2006/relationships/notesMaster" Target="/ppt/notesMasters/notesMaster1.xml" Id="R698f874ff7b44c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27c8a831ab4119" /><Relationship Type="http://schemas.openxmlformats.org/officeDocument/2006/relationships/notesMaster" Target="/ppt/notesMasters/notesMaster1.xml" Id="R72b0c0d445244e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9c476d975b429e" /><Relationship Type="http://schemas.openxmlformats.org/officeDocument/2006/relationships/notesMaster" Target="/ppt/notesMasters/notesMaster1.xml" Id="Re3bc8f5712244f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aa44f2c2df4a50" /><Relationship Type="http://schemas.openxmlformats.org/officeDocument/2006/relationships/notesMaster" Target="/ppt/notesMasters/notesMaster1.xml" Id="R1429039c02f842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2c1a83cb174a31" /><Relationship Type="http://schemas.openxmlformats.org/officeDocument/2006/relationships/notesMaster" Target="/ppt/notesMasters/notesMaster1.xml" Id="R47d1ec952f304f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1044b2b4c84394" /><Relationship Type="http://schemas.openxmlformats.org/officeDocument/2006/relationships/notesMaster" Target="/ppt/notesMasters/notesMaster1.xml" Id="Rb358a7e428dc41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0fe68748114a09" /><Relationship Type="http://schemas.openxmlformats.org/officeDocument/2006/relationships/notesMaster" Target="/ppt/notesMasters/notesMaster1.xml" Id="R0b221e2b3f3a49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90a1bf70f3470c" /><Relationship Type="http://schemas.openxmlformats.org/officeDocument/2006/relationships/notesMaster" Target="/ppt/notesMasters/notesMaster1.xml" Id="Rcd602ea599bf43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97b8b54d924c35" /><Relationship Type="http://schemas.openxmlformats.org/officeDocument/2006/relationships/notesMaster" Target="/ppt/notesMasters/notesMaster1.xml" Id="R62e161d95b5048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458a350517f4215" /><Relationship Type="http://schemas.openxmlformats.org/officeDocument/2006/relationships/notesMaster" Target="/ppt/notesMasters/notesMaster1.xml" Id="Rde361116fd1c4c0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6745980c8a34075" /><Relationship Type="http://schemas.openxmlformats.org/officeDocument/2006/relationships/notesMaster" Target="/ppt/notesMasters/notesMaster1.xml" Id="R9f75fbec933a476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dd4fd9377c44e19" /><Relationship Type="http://schemas.openxmlformats.org/officeDocument/2006/relationships/notesMaster" Target="/ppt/notesMasters/notesMaster1.xml" Id="R69c56325afa649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d0f4d2c02147c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f48f3622f1411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d64f2750224b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7f9efc2201471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8747a9c37e465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361c0e23fd4bd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b256f05cd44ea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6b87c39b49470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28d3cf45a4498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75aefa0476430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129305142a45b4" /></Relationships>
</file>

<file path=ppt/slideLayouts/slideLayout2.xml><?xml version="1.0" encoding="utf-8"?>
<p:sldLayout xmlns:p="http://schemas.openxmlformats.org/presentationml/2006/main" type="twoTxTwoObj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33586D-072E-4DC7-83DC-98A786C0E216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5CD597B-5F96-4C30-8A2E-D1B998B09B80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7C8A9C2-748F-4535-8D51-CEA4AE5EB72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549C84A-45D2-4268-ADB5-C0E55B977BF9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D2FC017-78AC-4E97-988F-39F8668AF489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D706E52-2A6D-46EB-BAA1-D5CBFEFA34F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46ECA29-6EE1-4AEC-A145-3BF19C761B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364A44F-BDEC-4BAC-B3A9-5F499A64AB2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A3A8C6B-FD50-4139-9A75-4C5348ED46A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7E0AAA3-A680-4396-89C1-58D34C1D740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5E58629-518A-4D4F-9261-DB424E941B5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vertTitleAndTx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90D0A3C-E69F-437A-8439-98B166142DA5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F6BB4E-14B5-44BC-8A34-1F332AF318C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55300D2-B8EC-4760-976F-C326CE91A5F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A2B5A21-A97E-490C-80BB-FB6ABA7F7D6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8FC2E7-2287-434C-8626-0E71FA98682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secHead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72F25A-811D-4018-8F0C-3983489BBE0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0C6EC0-47F3-42A1-BF0B-06B0B994A5D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8632FF3-35A1-474A-B96D-383736E083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2854579-ABF5-48E2-92F2-2F9E670A15E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A989EA-74F6-4159-AFE6-53F752D34E9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objTx">
  <p:cSld name="含輔助字幕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9251B6-2384-4F0C-B6DD-D1EEC10962F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A3FDD42-36D8-443A-A54D-AF64B5625198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82BA511-3BF7-43FA-A7D3-6F1D88ED1FC1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2F04E-AA9E-416F-8F20-C797B44E5DC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5331238-C171-4F29-A97E-896BAD6EC0F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0B857BA-B9BF-4D7B-8910-113E41357DA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DDAB47-6B97-46C3-B446-E7415271EEB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9937034-35F9-4912-A841-0F4BDCA9C48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3421285-6023-48F8-95F7-E296845B459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FBF6F75-AE15-4E31-A4C8-581952940D7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picTx">
  <p:cSld name="含輔助字幕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CC9F36-A670-439B-8338-B2785B974080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A14880-6469-47BB-8CCB-6C0FB778C589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8CF8BB9-6487-45EB-8478-89CB5B114021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1710336-7891-482D-9ED9-44657D09A0E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D7FD48B-66BD-441C-B493-15F879C6DA6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C62EA2F-E99D-4B86-99D4-77F47488958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E2EB2D-278A-4917-A109-56BE07360A18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6FB8948-480C-4E0C-BD0F-25040F0655CD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0F708F2-FD9E-4422-804D-CBB6491AA66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C9D907-C1CF-4BB6-B1AE-195090E1744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4E22C77-27C5-4D64-B5FF-01FAB79A5DF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twoObj">
  <p:cSld name="兩個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01AD01-501A-457B-B7B2-A2F9DD5C8C2E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E6323E7-88A8-48B4-923B-EE6894650CF2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B1C2796-3706-4878-94AB-516BC9EF6FB6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B842042-B92D-41DB-9CE9-BD5A2D368C7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D35810-B116-48EF-8C5E-09C750495FB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8A4CABC-4CD1-49EC-8BE4-03D6711DA41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obj">
  <p:cSld name="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1D190CE-C811-493B-8E98-37926B85394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9E636E6-4B6D-49D9-9C92-027E426AE362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63BEDA4-A2EC-4E1E-8C6D-5577310CDE8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569B7FB-E2CB-4642-9430-473258CE21C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ADC9A5-C600-4221-87B4-6F9AF13BAE3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vertTx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F3576B8-1E8D-4667-88D2-BEA8E1366214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C3584CF-38C8-457E-9871-B041BCB51824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2B4470D-2329-4CA5-AB16-3927FAC19F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9E88763-9037-49CF-B587-C7CF399CE76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1A43CE2-47FE-473D-B265-AE2C0A88083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8be9beeebd14819" /><Relationship Type="http://schemas.openxmlformats.org/officeDocument/2006/relationships/slideLayout" Target="/ppt/slideLayouts/slideLayout2.xml" Id="R2098a5ab7b6a423f" /><Relationship Type="http://schemas.openxmlformats.org/officeDocument/2006/relationships/slideLayout" Target="/ppt/slideLayouts/slideLayout3.xml" Id="Rcc4f2b4125c6455e" /><Relationship Type="http://schemas.openxmlformats.org/officeDocument/2006/relationships/slideLayout" Target="/ppt/slideLayouts/slideLayout4.xml" Id="R3ecacb53500a4d41" /><Relationship Type="http://schemas.openxmlformats.org/officeDocument/2006/relationships/slideLayout" Target="/ppt/slideLayouts/slideLayout5.xml" Id="R12c92982a2564459" /><Relationship Type="http://schemas.openxmlformats.org/officeDocument/2006/relationships/slideLayout" Target="/ppt/slideLayouts/slideLayout6.xml" Id="Rc3f8626a90e84c88" /><Relationship Type="http://schemas.openxmlformats.org/officeDocument/2006/relationships/slideLayout" Target="/ppt/slideLayouts/slideLayout7.xml" Id="R565065a5e4fe4a52" /><Relationship Type="http://schemas.openxmlformats.org/officeDocument/2006/relationships/slideLayout" Target="/ppt/slideLayouts/slideLayout8.xml" Id="R659862dc043c49bb" /><Relationship Type="http://schemas.openxmlformats.org/officeDocument/2006/relationships/slideLayout" Target="/ppt/slideLayouts/slideLayout9.xml" Id="R3167f99cd67944cc" /><Relationship Type="http://schemas.openxmlformats.org/officeDocument/2006/relationships/slideLayout" Target="/ppt/slideLayouts/slideLayout10.xml" Id="R5d39a44f2c004e01" /><Relationship Type="http://schemas.openxmlformats.org/officeDocument/2006/relationships/slideLayout" Target="/ppt/slideLayouts/slideLayout11.xml" Id="R2066627f0fa140bb" /><Relationship Type="http://schemas.openxmlformats.org/officeDocument/2006/relationships/slideLayout" Target="/ppt/slideLayouts/slideLayout12.xml" Id="R3f085e5d75664ee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4D970BA-64A1-48E1-83EB-F8CA4A2A47BB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CBEE5D9-8182-42D6-B453-927DEEBEC2A8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C227B20-6B9A-4712-BA33-9DC1544396B0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EDF40FE-F83F-403A-B6DA-0C48362CEAFA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86A4FC-7263-4DFC-8884-8CE75EDDFF0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98a5ab7b6a423f"/>
    <p:sldLayoutId xmlns:r="http://schemas.openxmlformats.org/officeDocument/2006/relationships" id="2147483650" r:id="Rcc4f2b4125c6455e"/>
    <p:sldLayoutId xmlns:r="http://schemas.openxmlformats.org/officeDocument/2006/relationships" id="2147483651" r:id="R3ecacb53500a4d41"/>
    <p:sldLayoutId xmlns:r="http://schemas.openxmlformats.org/officeDocument/2006/relationships" id="2147483652" r:id="R12c92982a2564459"/>
    <p:sldLayoutId xmlns:r="http://schemas.openxmlformats.org/officeDocument/2006/relationships" id="2147483653" r:id="Rc3f8626a90e84c88"/>
    <p:sldLayoutId xmlns:r="http://schemas.openxmlformats.org/officeDocument/2006/relationships" id="2147483654" r:id="R565065a5e4fe4a52"/>
    <p:sldLayoutId xmlns:r="http://schemas.openxmlformats.org/officeDocument/2006/relationships" id="2147483655" r:id="R659862dc043c49bb"/>
    <p:sldLayoutId xmlns:r="http://schemas.openxmlformats.org/officeDocument/2006/relationships" id="2147483656" r:id="R3167f99cd67944cc"/>
    <p:sldLayoutId xmlns:r="http://schemas.openxmlformats.org/officeDocument/2006/relationships" id="2147483657" r:id="R5d39a44f2c004e01"/>
    <p:sldLayoutId xmlns:r="http://schemas.openxmlformats.org/officeDocument/2006/relationships" id="2147483658" r:id="R2066627f0fa140bb"/>
    <p:sldLayoutId xmlns:r="http://schemas.openxmlformats.org/officeDocument/2006/relationships" id="2147483659" r:id="R3f085e5d75664e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b8ae6bebd4d942d5" /><Relationship Type="http://schemas.openxmlformats.org/officeDocument/2006/relationships/notesSlide" Target="/ppt/notesSlides/notesSlide1.xml" Id="Rdcfd396160a542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4084e828d50420d" /><Relationship Type="http://schemas.openxmlformats.org/officeDocument/2006/relationships/notesSlide" Target="/ppt/notesSlides/notesSlide2.xml" Id="Rd1145a89f3df46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7bf53b615c84381" /><Relationship Type="http://schemas.openxmlformats.org/officeDocument/2006/relationships/notesSlide" Target="/ppt/notesSlides/notesSlide3.xml" Id="R206798671c254a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417bdb29e6a4274" /><Relationship Type="http://schemas.openxmlformats.org/officeDocument/2006/relationships/image" Target="/ppt/media/image.png" Id="Rba2685e46c7d405a" /><Relationship Type="http://schemas.openxmlformats.org/officeDocument/2006/relationships/image" Target="/ppt/media/image2.png" Id="R93d94a2387054571" /><Relationship Type="http://schemas.openxmlformats.org/officeDocument/2006/relationships/notesSlide" Target="/ppt/notesSlides/notesSlide4.xml" Id="R0fdd8bf8b9f84a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2323f3072974c6a" /><Relationship Type="http://schemas.openxmlformats.org/officeDocument/2006/relationships/image" Target="/ppt/media/image3.png" Id="R026621212071410b" /><Relationship Type="http://schemas.openxmlformats.org/officeDocument/2006/relationships/notesSlide" Target="/ppt/notesSlides/notesSlide5.xml" Id="R1589e09b7eaf46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55497b9c7fd4693" /><Relationship Type="http://schemas.openxmlformats.org/officeDocument/2006/relationships/image" Target="/ppt/media/image4.png" Id="Ra8e3eeea4d9441eb" /><Relationship Type="http://schemas.openxmlformats.org/officeDocument/2006/relationships/image" Target="/ppt/media/image5.png" Id="Ra7c0951922004c32" /><Relationship Type="http://schemas.openxmlformats.org/officeDocument/2006/relationships/image" Target="/ppt/media/image6.png" Id="R8beeaf364ced4198" /><Relationship Type="http://schemas.openxmlformats.org/officeDocument/2006/relationships/image" Target="/ppt/media/image7.png" Id="R4bca4bcd7e194d30" /><Relationship Type="http://schemas.openxmlformats.org/officeDocument/2006/relationships/image" Target="/ppt/media/image8.png" Id="Rba56f69df2574fee" /><Relationship Type="http://schemas.openxmlformats.org/officeDocument/2006/relationships/image" Target="/ppt/media/image9.png" Id="R158310e5d16a4560" /><Relationship Type="http://schemas.openxmlformats.org/officeDocument/2006/relationships/image" Target="/ppt/media/image10.png" Id="Rfac023f489834936" /><Relationship Type="http://schemas.openxmlformats.org/officeDocument/2006/relationships/image" Target="/ppt/media/image11.png" Id="R0b776ea533a24e94" /><Relationship Type="http://schemas.openxmlformats.org/officeDocument/2006/relationships/image" Target="/ppt/media/image12.png" Id="R86977328f58c4ec8" /><Relationship Type="http://schemas.openxmlformats.org/officeDocument/2006/relationships/image" Target="/ppt/media/image13.png" Id="Rb678a82237fc4191" /><Relationship Type="http://schemas.openxmlformats.org/officeDocument/2006/relationships/notesSlide" Target="/ppt/notesSlides/notesSlide6.xml" Id="R45b62629b0924e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c1d868f759548c5" /><Relationship Type="http://schemas.openxmlformats.org/officeDocument/2006/relationships/image" Target="/ppt/media/image14.png" Id="R3cce506d046f43e6" /><Relationship Type="http://schemas.openxmlformats.org/officeDocument/2006/relationships/image" Target="/ppt/media/image15.png" Id="R18cde542278342b3" /><Relationship Type="http://schemas.openxmlformats.org/officeDocument/2006/relationships/notesSlide" Target="/ppt/notesSlides/notesSlide7.xml" Id="Rac543fdb606c45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c3fd5b6cc7546c9" /><Relationship Type="http://schemas.openxmlformats.org/officeDocument/2006/relationships/image" Target="/ppt/media/image16.png" Id="Rb4e40685f1ec40ef" /><Relationship Type="http://schemas.openxmlformats.org/officeDocument/2006/relationships/notesSlide" Target="/ppt/notesSlides/notesSlide8.xml" Id="Raac7cf0abfae4d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ff2993b788f4dba" /><Relationship Type="http://schemas.openxmlformats.org/officeDocument/2006/relationships/image" Target="/ppt/media/image17.png" Id="R5c2b9529251e41d4" /><Relationship Type="http://schemas.openxmlformats.org/officeDocument/2006/relationships/image" Target="/ppt/media/image.jpeg" Id="R6b57dc5ec69c48bf" /><Relationship Type="http://schemas.openxmlformats.org/officeDocument/2006/relationships/notesSlide" Target="/ppt/notesSlides/notesSlide9.xml" Id="Rd5cd75971b3b4a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653647944df465f" /><Relationship Type="http://schemas.openxmlformats.org/officeDocument/2006/relationships/image" Target="/ppt/media/image18.png" Id="Rc89c240b5be54178" /><Relationship Type="http://schemas.openxmlformats.org/officeDocument/2006/relationships/image" Target="/ppt/media/image19.png" Id="R5bead6c2939147ef" /><Relationship Type="http://schemas.openxmlformats.org/officeDocument/2006/relationships/image" Target="/ppt/media/image20.png" Id="R57ee55d905504b3f" /><Relationship Type="http://schemas.openxmlformats.org/officeDocument/2006/relationships/image" Target="/ppt/media/image21.png" Id="R15ede37f46da4291" /><Relationship Type="http://schemas.openxmlformats.org/officeDocument/2006/relationships/image" Target="/ppt/media/image22.png" Id="R8170e330ceaf4f6b" /><Relationship Type="http://schemas.openxmlformats.org/officeDocument/2006/relationships/notesSlide" Target="/ppt/notesSlides/notesSlide10.xml" Id="R86fbc48ec5a348e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0bcd3579b6449f6" /><Relationship Type="http://schemas.openxmlformats.org/officeDocument/2006/relationships/image" Target="/ppt/media/image23.png" Id="Rd7e55e96c7294883" /><Relationship Type="http://schemas.openxmlformats.org/officeDocument/2006/relationships/image" Target="/ppt/media/image24.png" Id="R09bca67493244133" /><Relationship Type="http://schemas.openxmlformats.org/officeDocument/2006/relationships/image" Target="/ppt/media/image25.png" Id="R5bfd331f5d474d45" /><Relationship Type="http://schemas.openxmlformats.org/officeDocument/2006/relationships/notesSlide" Target="/ppt/notesSlides/notesSlide11.xml" Id="R4a119ea50cb744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5f51c75b90ae4b3c" /><Relationship Type="http://schemas.openxmlformats.org/officeDocument/2006/relationships/image" Target="/ppt/media/image26.png" Id="R6194696323354751" /><Relationship Type="http://schemas.openxmlformats.org/officeDocument/2006/relationships/image" Target="/ppt/media/image27.png" Id="Rf4ff4293e6154fb4" /><Relationship Type="http://schemas.openxmlformats.org/officeDocument/2006/relationships/image" Target="/ppt/media/image28.png" Id="Rf1b0531fe5dc4059" /><Relationship Type="http://schemas.openxmlformats.org/officeDocument/2006/relationships/notesSlide" Target="/ppt/notesSlides/notesSlide12.xml" Id="Rb3987707afa848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59193c71d3e1436c" /><Relationship Type="http://schemas.openxmlformats.org/officeDocument/2006/relationships/image" Target="/ppt/media/image29.png" Id="Rb74d4d51654c424e" /><Relationship Type="http://schemas.openxmlformats.org/officeDocument/2006/relationships/image" Target="/ppt/media/image30.png" Id="R2a41ec43b60e4986" /><Relationship Type="http://schemas.openxmlformats.org/officeDocument/2006/relationships/notesSlide" Target="/ppt/notesSlides/notesSlide13.xml" Id="R51433994c7db4f6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9cb443ce50345b5" /><Relationship Type="http://schemas.openxmlformats.org/officeDocument/2006/relationships/image" Target="/ppt/media/image31.png" Id="R281e874477824520" /><Relationship Type="http://schemas.openxmlformats.org/officeDocument/2006/relationships/image" Target="/ppt/media/image32.png" Id="Rd0deb7cd7cce47d7" /><Relationship Type="http://schemas.openxmlformats.org/officeDocument/2006/relationships/image" Target="/ppt/media/image33.png" Id="Rae9e083b2f8948e0" /><Relationship Type="http://schemas.openxmlformats.org/officeDocument/2006/relationships/notesSlide" Target="/ppt/notesSlides/notesSlide14.xml" Id="R8c8465bf84024fb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24a27927eff472d" /><Relationship Type="http://schemas.openxmlformats.org/officeDocument/2006/relationships/image" Target="/ppt/media/image34.png" Id="Rf226e604012d4d74" /><Relationship Type="http://schemas.openxmlformats.org/officeDocument/2006/relationships/image" Target="/ppt/media/image35.png" Id="Rc47f12c81f7b490f" /><Relationship Type="http://schemas.openxmlformats.org/officeDocument/2006/relationships/image" Target="/ppt/media/image36.png" Id="Rd0bc71604d554eed" /><Relationship Type="http://schemas.openxmlformats.org/officeDocument/2006/relationships/notesSlide" Target="/ppt/notesSlides/notesSlide15.xml" Id="R345942cf3b91409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927A720-2F0F-7CF7-72C2-7618B3A28FC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150854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張維麟, Chang Wei Lin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1F59B5AA-7DA1-36E6-EEAF-CA2C6D18E0E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2999290"/>
            <a:ext cx="9144000" cy="1249750"/>
          </a:xfr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rPr sz="1800" b="0" i="0">
                <a:solidFill>
                  <a:srgbClr val="292929"/>
                </a:solidFill>
                <a:latin typeface="標楷體"/>
                <a:ea typeface="標楷體"/>
                <a:cs typeface="標楷體"/>
              </a:rPr>
              <a:t>宜蘭羅東人，物理背景的演算法工程師</a:t>
            </a:r>
          </a:p>
          <a:p xmlns:a="http://schemas.openxmlformats.org/drawingml/2006/main">
            <a:r>
              <a:rPr sz="1800" b="0" i="0">
                <a:solidFill>
                  <a:srgbClr val="292929"/>
                </a:solidFill>
                <a:latin typeface="標楷體"/>
                <a:ea typeface="標楷體"/>
                <a:cs typeface="標楷體"/>
              </a:rPr>
              <a:t>擅長 C/C++/Python，熱愛登山、重訓與桌遊</a:t>
            </a:r>
          </a:p>
          <a:p xmlns:a="http://schemas.openxmlformats.org/drawingml/2006/main">
            <a:r>
              <a:rPr sz="1800">
                <a:solidFill>
                  <a:srgbClr val="292929"/>
                </a:solidFill>
                <a:latin typeface="標楷體"/>
                <a:ea typeface="標楷體"/>
                <a:cs typeface="標楷體"/>
              </a:rPr>
              <a:t>關注 AI/LLM，善用 AI 工具學習與開發</a:t>
            </a:r>
          </a:p>
        </p:txBody>
      </p:sp>
      <p:sp>
        <p:nvSpPr>
          <p:cNvPr id="4" name="副標題 2">
            <a:extLst xmlns:a="http://schemas.openxmlformats.org/drawingml/2006/main">
              <a:ext uri="{FF2B5EF4-FFF2-40B4-BE49-F238E27FC236}">
                <a16:creationId xmlns:a16="http://schemas.microsoft.com/office/drawing/2014/main" id="{BD48276D-9030-3048-7837-A63D88B9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716" y="4524975"/>
            <a:ext cx="8598568" cy="15144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>
            <a:lvl1pPr marL="0" indent="0" algn="ctr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>
                <a:solidFill>
                  <a:srgbClr val="7E7E7E"/>
                </a:solidFill>
                <a:latin typeface="Arial"/>
                <a:ea typeface="Arial"/>
                <a:cs typeface="Arial"/>
              </a:rPr>
              <a:t>#C #C++ #Python #Assembly</a:t>
            </a:r>
          </a:p>
          <a:p xmlns:a="http://schemas.openxmlformats.org/drawingml/2006/main">
            <a:r>
              <a:rPr>
                <a:solidFill>
                  <a:srgbClr val="7E7E7E"/>
                </a:solidFill>
                <a:latin typeface="Arial"/>
                <a:ea typeface="Arial"/>
                <a:cs typeface="Arial"/>
              </a:rPr>
              <a:t>#TensorFlow #PyTorch #Qt #OpenCV #YOLO</a:t>
            </a:r>
          </a:p>
          <a:p xmlns:a="http://schemas.openxmlformats.org/drawingml/2006/main">
            <a:r>
              <a:rPr>
                <a:solidFill>
                  <a:srgbClr val="7E7E7E"/>
                </a:solidFill>
                <a:latin typeface="Arial"/>
                <a:ea typeface="Arial"/>
                <a:cs typeface="Arial"/>
              </a:rPr>
              <a:t>#StableDiffusion #LLM #Bash #Matlab #LabVIEW</a:t>
            </a:r>
          </a:p>
        </p:txBody>
      </p:sp>
    </p:spTree>
    <p:extLst>
      <p:ext uri="{BB962C8B-B14F-4D97-AF65-F5344CB8AC3E}">
        <p14:creationId xmlns:p14="http://schemas.microsoft.com/office/powerpoint/2010/main" val="13447336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" name="表格 4"/>
          <p:cNvGraphicFramePr/>
          <p:nvPr/>
        </p:nvGraphicFramePr>
        <p:xfrm>
          <a:off xmlns:a="http://schemas.openxmlformats.org/drawingml/2006/main" x="625642" y="856754"/>
          <a:ext xmlns:a="http://schemas.openxmlformats.org/drawingml/2006/main" cx="10940717" cy="517693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996593"/>
                <a:gridCol w="2486031"/>
                <a:gridCol w="2486031"/>
                <a:gridCol w="2486031"/>
                <a:gridCol w="2486031"/>
              </a:tblGrid>
              <a:tr h="658229">
                <a:tc>
                  <a:txBody>
                    <a:bodyPr/>
                    <a:lstStyle/>
                    <a:p>
                      <a:pPr algn="ctr">
                        <a:buNone/>
                      </a:p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chemeClr val="lt1"/>
                          </a:solidFill>
                        </a:rPr>
                        <a:t>九齊科技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800" b="0" i="0">
                          <a:solidFill>
                            <a:schemeClr val="lt1"/>
                          </a:solidFill>
                          <a:latin typeface="+mn-lt"/>
                          <a:ea typeface="+mn-lt"/>
                          <a:cs typeface="+mn-lt"/>
                        </a:rPr>
                        <a:t>NyQuest Technology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chemeClr val="lt1"/>
                          </a:solidFill>
                        </a:rPr>
                        <a:t>亞迪電子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800" b="0" i="0">
                          <a:solidFill>
                            <a:schemeClr val="lt1"/>
                          </a:solidFill>
                          <a:latin typeface="+mn-lt"/>
                          <a:ea typeface="+mn-lt"/>
                          <a:cs typeface="+mn-lt"/>
                        </a:rPr>
                        <a:t>ADE Technology Inc.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chemeClr val="lt1"/>
                          </a:solidFill>
                        </a:rPr>
                        <a:t>元鼎音訊</a:t>
                      </a:r>
                    </a:p>
                    <a:p>
                      <a:pPr algn="ctr">
                        <a:buNone/>
                      </a:pPr>
                      <a:r>
                        <a:rPr sz="1800" b="0" i="0">
                          <a:solidFill>
                            <a:schemeClr val="lt1"/>
                          </a:solidFill>
                          <a:latin typeface="+mn-lt"/>
                          <a:ea typeface="+mn-lt"/>
                          <a:cs typeface="+mn-lt"/>
                        </a:rPr>
                        <a:t>UnlimiterHear Co.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chemeClr val="lt1"/>
                          </a:solidFill>
                        </a:rPr>
                        <a:t>廣達電腦 / 中央研究院</a:t>
                      </a:r>
                    </a:p>
                    <a:p>
                      <a:pPr algn="ctr">
                        <a:buNone/>
                      </a:pPr>
                      <a:r>
                        <a:rPr sz="1800" b="1" i="0">
                          <a:solidFill>
                            <a:schemeClr val="lt1"/>
                          </a:solidFill>
                          <a:latin typeface="+mn-lt"/>
                          <a:ea typeface="+mn-lt"/>
                          <a:cs typeface="+mn-lt"/>
                        </a:rPr>
                        <a:t>Quanta / Academia Sinica</a:t>
                      </a:r>
                    </a:p>
                  </a:txBody>
                  <a:tcPr marL="91440" marR="91440" marT="45720" marB="45720" anchor="ctr"/>
                </a:tc>
              </a:tr>
              <a:tr h="7229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Product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Voice-control IC</a:t>
                      </a:r>
                    </a:p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Voice MCU / LCD MCU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Vital signs monitor</a:t>
                      </a:r>
                    </a:p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Thermal posture system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Hearing aids</a:t>
                      </a:r>
                    </a:p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Bluetooth headphones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RF components</a:t>
                      </a:r>
                    </a:p>
                    <a:p>
                      <a:pPr algn="ctr">
                        <a:buNone/>
                      </a:pPr>
                      <a:r>
                        <a:t>iSCAT paper</a:t>
                      </a:r>
                    </a:p>
                  </a:txBody>
                  <a:tcPr marL="91440" marR="91440" marT="45720" marB="45720" anchor="ctr"/>
                </a:tc>
              </a:tr>
              <a:tr h="10989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Work content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0000"/>
                        </a:lnSpc>
                        <a:buChar char="•"/>
                      </a:pPr>
                      <a:r>
                        <a:rPr b="0" i="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Speech algorithm library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ADPCM/SBC, pitch tracking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WSOLA, feedback suppression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sz="1800" b="0" i="0" u="none"/>
                        <a:t>image scaling/compression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marL="285750" indent="-285750">
                        <a:buChar char="•"/>
                      </a:pPr>
                      <a:r>
                        <a:rPr b="0" i="0" u="none">
                          <a:solidFill>
                            <a:srgbClr val="000000"/>
                          </a:solidFill>
                        </a:rPr>
                        <a:t>Radar vital-sign algorithms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GUI labeling tools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b="0" i="0" u="none">
                          <a:solidFill>
                            <a:srgbClr val="000000"/>
                          </a:solidFill>
                        </a:rPr>
                        <a:t>ML/DL symptom recognition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b="0" i="0" u="none">
                          <a:solidFill>
                            <a:srgbClr val="000000"/>
                          </a:solidFill>
                        </a:rPr>
                        <a:t>OpenCV/YOLO fall detection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marL="285750" indent="-285750">
                        <a:buChar char="•"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DSP on CSR/AB chips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VAD/LRT/noise reduction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EQ/DRC/binaural beats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patent collaboration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marL="285750" indent="-285750">
                        <a:buChar char="•"/>
                      </a:pPr>
                      <a:r>
                        <a:rPr sz="1800" b="0" i="0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Automated RF tests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sz="1800" b="0" i="0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yield/error analysis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nanoparticle tracking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Optics Express paper</a:t>
                      </a:r>
                    </a:p>
                  </a:txBody>
                  <a:tcPr marL="91440" marR="91440" marT="45720" marB="45720" anchor="ctr"/>
                </a:tc>
              </a:tr>
              <a:tr h="9611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During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2022/11 ~ now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2020/07 ~ 2022/10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2016/05 ~ 2020/06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2014/11 ~ 2016/05</a:t>
                      </a:r>
                    </a:p>
                    <a:p>
                      <a:pPr algn="ctr">
                        <a:buNone/>
                      </a:pPr>
                      <a:r>
                        <a:t>2013/07 ~ 2014/04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C62B14E-F4F4-47D4-BB3C-C8D87CCC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112204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3284C6D-1AE9-43FC-93A2-C3DD9FF2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57250"/>
            <a:ext cx="990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59D6AE6-8C35-4FD4-97CF-FC235CC4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95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8310283-68CC-4BDB-9B36-CDF532C3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57250"/>
            <a:ext cx="24860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A1845A2-00D1-4B73-A858-F57E6E6D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876300"/>
            <a:ext cx="24479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NyQuest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2022/11 ~ now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F1F4BBE-C3AA-47E7-A37C-D2A56254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857250"/>
            <a:ext cx="24860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60C4350-E3F4-4A43-86B8-80013C09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876300"/>
            <a:ext cx="24479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ADE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2020/07 ~ 2022/10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4BBDC29-21C6-49FD-8D24-35602169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857250"/>
            <a:ext cx="24860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71BBEFC-B1BD-42EA-899C-0B312090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876300"/>
            <a:ext cx="24479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UnlimiterHear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2016/05 ~ 2020/06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DC15379-99B0-4A9A-80CD-3EAB8543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857250"/>
            <a:ext cx="24860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328038E-1CC1-44DA-8DD4-FDA415A6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876300"/>
            <a:ext cx="24479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Quanta / Academia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2014/11 ~ 2016/05, 2013/07 ~ 2014/04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BC5731E-0BEC-4133-AE5E-3CFF7432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990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36E6FF5-F5C3-4995-A034-9F98ADA2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95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62BFD3B-6A03-4208-B2F5-F0DED477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04950"/>
            <a:ext cx="24860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D2188FB-A73D-40C2-AEC2-F7846225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524000"/>
            <a:ext cx="24479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Voice-control IC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Voice MCU / LCD MCU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60D64E1-5A45-4696-8D9E-B8F0CB80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504950"/>
            <a:ext cx="24860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2309F84-0901-4DC5-B662-C1F88879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524000"/>
            <a:ext cx="24479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Vital signs monitor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Thermal posture system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71AFD55-A569-4D4C-B574-D30D4549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04950"/>
            <a:ext cx="24860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0A97BFB-C6F6-47D5-B7C1-AE212223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24000"/>
            <a:ext cx="24479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Hearing aids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Bluetooth headphones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1942958B-09B4-4C6D-806D-02EFE48A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504950"/>
            <a:ext cx="24860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3EE8DAE-2575-48CA-B601-429A090E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524000"/>
            <a:ext cx="24479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RF components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iSCAT paper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2DE167E-8FD2-46AF-A717-3EB8DCF6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9906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615B34E-9079-4952-B6E8-A3809A16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952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Work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9BD064A-4667-4195-9F32-4757C543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05050"/>
            <a:ext cx="24860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E0BB5F0-D837-4ABD-AD0B-B8F95328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324100"/>
            <a:ext cx="24479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Speech algorithm library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ADPCM / SBC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Pitch tracking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WSOLA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Feedback suppression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Image scaling / compression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4C92CA6-7B42-490A-ACA7-1B8BAF61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305050"/>
            <a:ext cx="24860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94F57A8-7D87-4740-8CB5-76625940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324100"/>
            <a:ext cx="24479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Radar vital-sign algorithms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GUI labeling tool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ML/DL symptom recognition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OpenCV / YOLO fall detection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4A9D6D0-97F0-4F49-A38D-14AEE448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24860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D287B48-2D31-446D-8D92-7B81EFF9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24100"/>
            <a:ext cx="24479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DSP on CSR / AB chips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VAD / LRT / noise reduction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EQ / DRC / binaural beats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Natural sound generation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Patent collaboration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A8CC79B-D7CB-4C33-A5D4-EE711824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05050"/>
            <a:ext cx="24860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6E02F703-E63F-418A-BE5E-8F77D405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24100"/>
            <a:ext cx="24479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Automated RF tests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Yield and error analysis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Nanoparticle localization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Random-walk tracking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Optics Express paper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F0C5672-C267-4D8E-A817-79918CD4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990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729BC10D-C308-4620-9467-073517F0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Focus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14AF5E6F-3C5B-48AC-81CD-FF86032F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95700"/>
            <a:ext cx="24860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9113DCD7-9FDB-4EB3-B5AC-723271E5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14750"/>
            <a:ext cx="24479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MCU optimization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Python + C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2711F085-DE8F-488B-8573-AA42F7EC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695700"/>
            <a:ext cx="24860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4875BCCC-0589-4D7E-B86B-30067C48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714750"/>
            <a:ext cx="24479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Physiological signal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Computer vision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F4F25514-2457-4871-9B01-99DD9F49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95700"/>
            <a:ext cx="24860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0AB96FFA-A62E-4D19-8753-35864191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14750"/>
            <a:ext cx="24479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Audio DSP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Embedded implementation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66596F0F-57E8-428A-882C-43D7BB27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695700"/>
            <a:ext cx="24860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8FB749C0-85AC-4AB1-A31E-B7573DCE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714750"/>
            <a:ext cx="24479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Instrumentation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Research data analysis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CC3ECAB5-1025-425B-8C76-12C024CD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57250"/>
            <a:ext cx="109347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8319321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3019E36-41E8-1AAF-FB9F-7F69B39E8F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109" y="0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NyQuest Technology Co. Ltd.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0F07F60-5462-9107-0BF0-67A689CBBE7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61109" y="1000833"/>
            <a:ext cx="9372600" cy="5445175"/>
          </a:xfr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Speech algorithm library for voice-control IC, voice MCU, and LCD MCU</a:t>
            </a:r>
          </a:p>
          <a:p xmlns:a="http://schemas.openxmlformats.org/drawingml/2006/main">
            <a:pPr marL="914400" indent="-457200">
              <a:buAutoNum type="arabicPeriod"/>
            </a:pPr>
            <a:r>
              <a:t>Python simulation; C implementation on resource-constrained MCU</a:t>
            </a:r>
          </a:p>
          <a:p xmlns:a="http://schemas.openxmlformats.org/drawingml/2006/main">
            <a:pPr marL="914400" indent="-457200">
              <a:buAutoNum type="arabicPeriod"/>
            </a:pPr>
            <a:r>
              <a:t>Audio encoding: ADPCM / SBC</a:t>
            </a:r>
          </a:p>
          <a:p xmlns:a="http://schemas.openxmlformats.org/drawingml/2006/main">
            <a:pPr marL="914400" indent="-457200">
              <a:buAutoNum type="arabicPeriod"/>
            </a:pPr>
            <a:r>
              <a:t>Pitch tracking; time-stretching and pitch-shifting: resampling + WSOLA</a:t>
            </a:r>
          </a:p>
          <a:p xmlns:a="http://schemas.openxmlformats.org/drawingml/2006/main">
            <a:r>
              <a:rPr>
                <a:solidFill>
                  <a:srgbClr val="000000"/>
                </a:solidFill>
              </a:rPr>
              <a:t>Feedback suppression, syllable segmentation, and beat tracking</a:t>
            </a:r>
          </a:p>
          <a:p xmlns:a="http://schemas.openxmlformats.org/drawingml/2006/main">
            <a:pPr marL="971550" indent="-514350">
              <a:buAutoNum type="arabicPeriod"/>
            </a:pPr>
            <a:r>
              <a:t>Image scaling and image compression algorithms</a:t>
            </a:r>
          </a:p>
        </p:txBody>
      </p:sp>
    </p:spTree>
    <p:extLst>
      <p:ext uri="{BB962C8B-B14F-4D97-AF65-F5344CB8AC3E}">
        <p14:creationId xmlns:p14="http://schemas.microsoft.com/office/powerpoint/2010/main" val="16620612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064603F-BD10-177E-BC10-EDDC7F5761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5312" y="0"/>
            <a:ext cx="6541655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ADE Technology Inc.(1)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101AB129-5086-2950-D9E3-1CE5969149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25312" y="1094497"/>
            <a:ext cx="7503695" cy="1984193"/>
          </a:xfrm>
        </p:spPr>
        <p:txBody>
          <a:bodyPr xmlns:a="http://schemas.openxmlformats.org/drawingml/2006/main">
            <a:normAutofit fontScale="86899"/>
          </a:bodyPr>
          <a:lstStyle xmlns:a="http://schemas.openxmlformats.org/drawingml/2006/main"/>
          <a:p xmlns:a="http://schemas.openxmlformats.org/drawingml/2006/main">
            <a:r>
              <a:rPr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Non-contact vital-sign monitoring by microwave radar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Python simulation and C++ implementation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IIR / STFT / GMM / autocorrelation feature pipeline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Random Forest / CNN / DNN symptom recognition</a:t>
            </a:r>
          </a:p>
        </p:txBody>
      </p:sp>
      <p:pic>
        <p:nvPicPr>
          <p:cNvPr id="4" name="圖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2685e46c7d405a"/>
          <a:srcRect xmlns:a="http://schemas.openxmlformats.org/drawingml/2006/main" l="2219" t="11625" r="4056" b="7787"/>
          <a:stretch xmlns:a="http://schemas.openxmlformats.org/drawingml/2006/main"/>
        </p:blipFill>
        <p:spPr>
          <a:xfrm xmlns:a="http://schemas.openxmlformats.org/drawingml/2006/main">
            <a:off x="2571234" y="3078690"/>
            <a:ext cx="4614657" cy="3256229"/>
          </a:xfrm>
          <a:prstGeom xmlns:a="http://schemas.openxmlformats.org/drawingml/2006/main" prst="rect">
            <a:avLst/>
          </a:prstGeom>
        </p:spPr>
      </p:pic>
      <p:pic>
        <p:nvPicPr>
          <p:cNvPr id="5" name="圖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94a2387054571"/>
          <a:srcRect xmlns:a="http://schemas.openxmlformats.org/drawingml/2006/main" l="47746" t="11385" r="29826" b="24308"/>
          <a:stretch xmlns:a="http://schemas.openxmlformats.org/drawingml/2006/main"/>
        </p:blipFill>
        <p:spPr>
          <a:xfrm xmlns:a="http://schemas.openxmlformats.org/drawingml/2006/main">
            <a:off x="7834624" y="1098560"/>
            <a:ext cx="2424209" cy="522478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2945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圖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62121207141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1304" y="-351431"/>
            <a:ext cx="10054675" cy="7572411"/>
          </a:xfrm>
          <a:prstGeom xmlns:a="http://schemas.openxmlformats.org/drawingml/2006/main" prst="rect">
            <a:avLst/>
          </a:prstGeom>
        </p:spPr>
      </p:pic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064603F-BD10-177E-BC10-EDDC7F5761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3880" y="0"/>
            <a:ext cx="6363247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ADE Technology Inc.(2)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101AB129-5086-2950-D9E3-1CE5969149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23880" y="1103734"/>
            <a:ext cx="6363248" cy="1778012"/>
          </a:xfrm>
        </p:spPr>
        <p:txBody>
          <a:bodyPr xmlns:a="http://schemas.openxmlformats.org/drawingml/2006/main" vert="horz" lIns="91440" tIns="45720" rIns="91440" bIns="45720" anchor="t">
            <a:normAutofit fontScale="76720"/>
          </a:bodyPr>
          <a:lstStyle xmlns:a="http://schemas.openxmlformats.org/drawingml/2006/main"/>
          <a:p xmlns:a="http://schemas.openxmlformats.org/drawingml/2006/main">
            <a:r>
              <a:rPr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Vital-sign waveform pre-training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IIR / STFT feature extraction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IWGAN-AE pre-training and augmentation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Radar waveform robustness experiments</a:t>
            </a:r>
          </a:p>
        </p:txBody>
      </p:sp>
    </p:spTree>
    <p:extLst>
      <p:ext uri="{BB962C8B-B14F-4D97-AF65-F5344CB8AC3E}">
        <p14:creationId xmlns:p14="http://schemas.microsoft.com/office/powerpoint/2010/main" val="327387530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38FEBBD-9F54-AC10-DCB4-A8A694C7C0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799" y="0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ADE Technology Inc.(3)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C6F5E4AD-3417-74E9-45EB-3154BCDE456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56674" y="1108870"/>
            <a:ext cx="5654972" cy="2765887"/>
          </a:xfrm>
        </p:spPr>
        <p:txBody>
          <a:bodyPr xmlns:a="http://schemas.openxmlformats.org/drawingml/2006/main" vert="horz" lIns="91440" tIns="45720" rIns="91440" bIns="45720" anchor="t">
            <a:normAutofit fontScale="94018"/>
          </a:bodyPr>
          <a:lstStyle xmlns:a="http://schemas.openxmlformats.org/drawingml/2006/main"/>
          <a:p xmlns:a="http://schemas.openxmlformats.org/drawingml/2006/main">
            <a:r>
              <a:rPr>
                <a:latin typeface="open sans"/>
                <a:ea typeface="open sans"/>
                <a:cs typeface="open sans"/>
              </a:rPr>
              <a:t>Thermal image posture and fall detection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OpenCV + YOLO thermal-image pipeline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>
                <a:latin typeface="open sans"/>
                <a:ea typeface="open sans"/>
                <a:cs typeface="open sans"/>
              </a:rPr>
              <a:t>3 classes: lying, sitting, standing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>
                <a:latin typeface="open sans"/>
                <a:ea typeface="open sans"/>
                <a:cs typeface="open sans"/>
              </a:rPr>
              <a:t>Fall alert for healthcare scenarios</a:t>
            </a:r>
          </a:p>
        </p:txBody>
      </p:sp>
      <p:pic>
        <p:nvPicPr>
          <p:cNvPr id="4" name="圖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e3eeea4d9441eb"/>
          <a:srcRect xmlns:a="http://schemas.openxmlformats.org/drawingml/2006/main" l="32746" t="3935" r="147" b="27034"/>
          <a:stretch xmlns:a="http://schemas.openxmlformats.org/drawingml/2006/main"/>
        </p:blipFill>
        <p:spPr>
          <a:xfrm xmlns:a="http://schemas.openxmlformats.org/drawingml/2006/main">
            <a:off x="6096928" y="209040"/>
            <a:ext cx="5617642" cy="3673303"/>
          </a:xfrm>
          <a:prstGeom xmlns:a="http://schemas.openxmlformats.org/drawingml/2006/main" prst="rect">
            <a:avLst/>
          </a:prstGeom>
        </p:spPr>
      </p:pic>
      <p:pic>
        <p:nvPicPr>
          <p:cNvPr id="5" name="圖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0951922004c32"/>
          <a:srcRect xmlns:a="http://schemas.openxmlformats.org/drawingml/2006/main" l="24196" t="22687" r="40283" b="37910"/>
          <a:stretch xmlns:a="http://schemas.openxmlformats.org/drawingml/2006/main"/>
        </p:blipFill>
        <p:spPr>
          <a:xfrm xmlns:a="http://schemas.openxmlformats.org/drawingml/2006/main">
            <a:off x="258606" y="3945856"/>
            <a:ext cx="5433628" cy="2603431"/>
          </a:xfrm>
          <a:prstGeom xmlns:a="http://schemas.openxmlformats.org/drawingml/2006/main" prst="rect">
            <a:avLst/>
          </a:prstGeom>
        </p:spPr>
      </p:pic>
      <p:pic>
        <p:nvPicPr>
          <p:cNvPr id="6" name="圖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eaf364ced41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463" y="4011979"/>
            <a:ext cx="1290482" cy="1290482"/>
          </a:xfrm>
          <a:prstGeom xmlns:a="http://schemas.openxmlformats.org/drawingml/2006/main" prst="rect">
            <a:avLst/>
          </a:prstGeom>
        </p:spPr>
      </p:pic>
      <p:pic>
        <p:nvPicPr>
          <p:cNvPr id="7" name="圖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a4bcd7e194d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928" y="5436960"/>
            <a:ext cx="1290482" cy="1290482"/>
          </a:xfrm>
          <a:prstGeom xmlns:a="http://schemas.openxmlformats.org/drawingml/2006/main" prst="rect">
            <a:avLst/>
          </a:prstGeom>
        </p:spPr>
      </p:pic>
      <p:pic>
        <p:nvPicPr>
          <p:cNvPr id="8" name="圖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6f69df2574f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03821" y="4016384"/>
            <a:ext cx="1290482" cy="1290482"/>
          </a:xfrm>
          <a:prstGeom xmlns:a="http://schemas.openxmlformats.org/drawingml/2006/main" prst="rect">
            <a:avLst/>
          </a:prstGeom>
        </p:spPr>
      </p:pic>
      <p:pic>
        <p:nvPicPr>
          <p:cNvPr id="9" name="圖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8310e5d16a45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1532" y="5436960"/>
            <a:ext cx="1290482" cy="1290482"/>
          </a:xfrm>
          <a:prstGeom xmlns:a="http://schemas.openxmlformats.org/drawingml/2006/main" prst="rect">
            <a:avLst/>
          </a:prstGeom>
        </p:spPr>
      </p:pic>
      <p:pic>
        <p:nvPicPr>
          <p:cNvPr id="10" name="圖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023f4898349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7180" y="4016384"/>
            <a:ext cx="1290482" cy="1290482"/>
          </a:xfrm>
          <a:prstGeom xmlns:a="http://schemas.openxmlformats.org/drawingml/2006/main" prst="rect">
            <a:avLst/>
          </a:prstGeom>
        </p:spPr>
      </p:pic>
      <p:pic>
        <p:nvPicPr>
          <p:cNvPr id="11" name="圖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776ea533a24e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9267" y="5436960"/>
            <a:ext cx="1290482" cy="1290482"/>
          </a:xfrm>
          <a:prstGeom xmlns:a="http://schemas.openxmlformats.org/drawingml/2006/main" prst="rect">
            <a:avLst/>
          </a:prstGeom>
        </p:spPr>
      </p:pic>
      <p:pic>
        <p:nvPicPr>
          <p:cNvPr id="12" name="圖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77328f58c4e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79293" y="4016384"/>
            <a:ext cx="1290482" cy="1290482"/>
          </a:xfrm>
          <a:prstGeom xmlns:a="http://schemas.openxmlformats.org/drawingml/2006/main" prst="rect">
            <a:avLst/>
          </a:prstGeom>
        </p:spPr>
      </p:pic>
      <p:pic>
        <p:nvPicPr>
          <p:cNvPr id="13" name="圖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8a82237fc41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81380" y="5436960"/>
            <a:ext cx="1290482" cy="129048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4269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38FEBBD-9F54-AC10-DCB4-A8A694C7C0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799" y="0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ADE Technology Inc.(4)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C6F5E4AD-3417-74E9-45EB-3154BCDE456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56674" y="1108870"/>
            <a:ext cx="5839326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GUI Tool for vital-sign waveform dataset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Data visualization and labeling workflow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Client-server model between Windows and Linux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Bash / PowerShell automation for data collection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SMAC step motor simulates breathing and heartbeat</a:t>
            </a:r>
          </a:p>
        </p:txBody>
      </p:sp>
      <p:pic>
        <p:nvPicPr>
          <p:cNvPr id="4" name="圖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e506d046f43e6"/>
          <a:srcRect xmlns:a="http://schemas.openxmlformats.org/drawingml/2006/main" l="47" t="4148" r="236" b="5808"/>
          <a:stretch xmlns:a="http://schemas.openxmlformats.org/drawingml/2006/main"/>
        </p:blipFill>
        <p:spPr>
          <a:xfrm xmlns:a="http://schemas.openxmlformats.org/drawingml/2006/main">
            <a:off x="6352677" y="333703"/>
            <a:ext cx="5534524" cy="4059143"/>
          </a:xfrm>
          <a:prstGeom xmlns:a="http://schemas.openxmlformats.org/drawingml/2006/main" prst="rect">
            <a:avLst/>
          </a:prstGeom>
        </p:spPr>
      </p:pic>
      <p:pic>
        <p:nvPicPr>
          <p:cNvPr id="5" name="圖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de542278342b3"/>
          <a:srcRect xmlns:a="http://schemas.openxmlformats.org/drawingml/2006/main" l="0" t="5909" r="0" b="35718"/>
          <a:stretch xmlns:a="http://schemas.openxmlformats.org/drawingml/2006/main"/>
        </p:blipFill>
        <p:spPr>
          <a:xfrm xmlns:a="http://schemas.openxmlformats.org/drawingml/2006/main">
            <a:off x="2089642" y="4716463"/>
            <a:ext cx="8012718" cy="18784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1069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726F799-A0AA-0B6C-CD4E-4F34A72F6F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7981" y="0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UnlimiterHear Co.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76FDB582-77A0-F9F0-2C96-C5087E93932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06636" y="1209425"/>
            <a:ext cx="5589364" cy="5343775"/>
          </a:xfrm>
        </p:spPr>
        <p:txBody>
          <a:bodyPr xmlns:a="http://schemas.openxmlformats.org/drawingml/2006/main">
            <a:normAutofit fontScale="89064" lnSpcReduction="10000"/>
          </a:bodyPr>
          <a:lstStyle xmlns:a="http://schemas.openxmlformats.org/drawingml/2006/main"/>
          <a:p xmlns:a="http://schemas.openxmlformats.org/drawingml/2006/main">
            <a:r>
              <a:rPr b="0" i="0" u="none">
                <a:solidFill>
                  <a:srgbClr val="000000"/>
                </a:solidFill>
              </a:rPr>
              <a:t>DSP (C or Assembly)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>
                <a:solidFill>
                  <a:srgbClr val="000000"/>
                </a:solidFill>
              </a:rPr>
              <a:t>Convert floating-point algorithms to fixed-point operation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 b="0" i="0" u="none">
                <a:solidFill>
                  <a:srgbClr val="000000"/>
                </a:solidFill>
              </a:rPr>
              <a:t>Voice enhancement: VAD, LRT, noise cancellation, subwoofer tune</a:t>
            </a:r>
          </a:p>
          <a:p xmlns:a="http://schemas.openxmlformats.org/drawingml/2006/main">
            <a:r>
              <a:rPr>
                <a:solidFill>
                  <a:srgbClr val="000000"/>
                </a:solidFill>
              </a:rPr>
              <a:t>Hearing protection: EQ, DRC, binaural beat generation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 b="0" i="0" u="none">
                <a:solidFill>
                  <a:srgbClr val="000000"/>
                </a:solidFill>
              </a:rPr>
              <a:t>Natural sound generation: random number, white noise, droplet physics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 b="0" i="0" u="none">
                <a:solidFill>
                  <a:srgbClr val="000000"/>
                </a:solidFill>
              </a:rPr>
              <a:t>Patent collaboration: hearing protection and masking-noise methods</a:t>
            </a:r>
          </a:p>
        </p:txBody>
      </p:sp>
      <p:pic>
        <p:nvPicPr>
          <p:cNvPr id="4" name="wl 20200330 test GLFSR - 雨滴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40685f1ec40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67594" y="5402012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6" name="文字方塊 5">
            <a:extLst xmlns:a="http://schemas.openxmlformats.org/drawingml/2006/main">
              <a:ext uri="{FF2B5EF4-FFF2-40B4-BE49-F238E27FC236}">
                <a16:creationId xmlns:a16="http://schemas.microsoft.com/office/drawing/2014/main" id="{0C8288FB-0A28-FE50-470C-2F37B7F6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9853" y="5522146"/>
            <a:ext cx="6463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雨滴</a:t>
            </a:r>
          </a:p>
        </p:txBody>
      </p:sp>
      <p:pic>
        <p:nvPicPr>
          <p:cNvPr id="7" name="wl 20200330 test GLFSR - 雨滴水池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40685f1ec40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1266" y="5402012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5" name="文字方塊 6">
            <a:extLst xmlns:a="http://schemas.openxmlformats.org/drawingml/2006/main">
              <a:ext uri="{FF2B5EF4-FFF2-40B4-BE49-F238E27FC236}">
                <a16:creationId xmlns:a16="http://schemas.microsoft.com/office/drawing/2014/main" id="{89C69B16-394B-64B3-833F-663A9099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4935" y="5522146"/>
            <a:ext cx="6463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水池</a:t>
            </a:r>
          </a:p>
        </p:txBody>
      </p:sp>
      <p:pic>
        <p:nvPicPr>
          <p:cNvPr id="9" name="G02A0041a-SUM_in car on highway_SNR set5_inpu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40685f1ec40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67594" y="3000918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12" name="文字方塊 11">
            <a:extLst xmlns:a="http://schemas.openxmlformats.org/drawingml/2006/main">
              <a:ext uri="{FF2B5EF4-FFF2-40B4-BE49-F238E27FC236}">
                <a16:creationId xmlns:a16="http://schemas.microsoft.com/office/drawing/2014/main" id="{F0DD72AF-A6F9-B14F-26B3-7E176598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021" y="3116587"/>
            <a:ext cx="87716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降噪前</a:t>
            </a:r>
          </a:p>
        </p:txBody>
      </p:sp>
      <p:pic>
        <p:nvPicPr>
          <p:cNvPr id="13" name="G02A0041a-SUM_in car on highway_SNR set5_Mu1_outpu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40685f1ec40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42553" y="3000918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14" name="文字方塊 13">
            <a:extLst xmlns:a="http://schemas.openxmlformats.org/drawingml/2006/main">
              <a:ext uri="{FF2B5EF4-FFF2-40B4-BE49-F238E27FC236}">
                <a16:creationId xmlns:a16="http://schemas.microsoft.com/office/drawing/2014/main" id="{5FFA1415-4896-6FBA-AEE8-B5C59F78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982" y="3121052"/>
            <a:ext cx="87716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降噪後</a:t>
            </a:r>
          </a:p>
        </p:txBody>
      </p:sp>
      <p:pic>
        <p:nvPicPr>
          <p:cNvPr id="15" name="about I love you 44kHz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40685f1ec40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67594" y="4373751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17" name="文字方塊 16">
            <a:extLst xmlns:a="http://schemas.openxmlformats.org/drawingml/2006/main">
              <a:ext uri="{FF2B5EF4-FFF2-40B4-BE49-F238E27FC236}">
                <a16:creationId xmlns:a16="http://schemas.microsoft.com/office/drawing/2014/main" id="{EFF43B41-85A4-8295-F7AC-E3B61878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188" y="4489420"/>
            <a:ext cx="110799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原始音樂</a:t>
            </a:r>
          </a:p>
        </p:txBody>
      </p:sp>
      <p:pic>
        <p:nvPicPr>
          <p:cNvPr id="18" name="about I love you 44kHz - Hibert shift 5Hz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40685f1ec40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42553" y="4373751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20" name="文字方塊 19">
            <a:extLst xmlns:a="http://schemas.openxmlformats.org/drawingml/2006/main">
              <a:ext uri="{FF2B5EF4-FFF2-40B4-BE49-F238E27FC236}">
                <a16:creationId xmlns:a16="http://schemas.microsoft.com/office/drawing/2014/main" id="{29747F8E-D6F1-88CC-2D11-FFA1CF2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047" y="4489420"/>
            <a:ext cx="111601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±5Hz拍音</a:t>
            </a:r>
          </a:p>
        </p:txBody>
      </p:sp>
    </p:spTree>
    <p:extLst>
      <p:ext uri="{BB962C8B-B14F-4D97-AF65-F5344CB8AC3E}">
        <p14:creationId xmlns:p14="http://schemas.microsoft.com/office/powerpoint/2010/main" val="368887275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08B9512-25A2-7375-2965-C8F56C5EAF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6454" y="1825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i="0">
                <a:solidFill>
                  <a:srgbClr val="202122"/>
                </a:solidFill>
                <a:latin typeface="open sans"/>
                <a:ea typeface="open sans"/>
                <a:cs typeface="open sans"/>
              </a:rPr>
              <a:t>Academia Sinica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765DC786-9B22-5D31-2ED9-75A6D65C4E1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96454" y="1151369"/>
            <a:ext cx="5417229" cy="4963104"/>
          </a:xfrm>
        </p:spPr>
        <p:txBody>
          <a:bodyPr xmlns:a="http://schemas.openxmlformats.org/drawingml/2006/main">
            <a:normAutofit fontScale="91930"/>
          </a:bodyPr>
          <a:lstStyle xmlns:a="http://schemas.openxmlformats.org/drawingml/2006/main"/>
          <a:p xmlns:a="http://schemas.openxmlformats.org/drawingml/2006/main">
            <a:pPr marL="285750" indent="-285750">
              <a:buChar char="•"/>
            </a:pPr>
            <a:r>
              <a:rPr b="0" i="0">
                <a:solidFill>
                  <a:schemeClr val="dk1"/>
                </a:solidFill>
              </a:rPr>
              <a:t>Nano-particles on cell membrane imaged by CMOS high-speed camera (1k ~ 100k fps)</a:t>
            </a:r>
          </a:p>
          <a:p xmlns:a="http://schemas.openxmlformats.org/drawingml/2006/main">
            <a:pPr marL="285750" indent="-285750">
              <a:buChar char="•"/>
            </a:pPr>
            <a:r>
              <a:rPr b="0" i="0">
                <a:solidFill>
                  <a:schemeClr val="dk1"/>
                </a:solidFill>
              </a:rPr>
              <a:t>Interferometric scattering optical microscope (iSCAT)</a:t>
            </a:r>
          </a:p>
          <a:p xmlns:a="http://schemas.openxmlformats.org/drawingml/2006/main">
            <a:r>
              <a:rPr b="0" i="0">
                <a:solidFill>
                  <a:schemeClr val="dk1"/>
                </a:solidFill>
              </a:rPr>
              <a:t>Nano-particle localization and random-walk tracking</a:t>
            </a:r>
          </a:p>
          <a:p xmlns:a="http://schemas.openxmlformats.org/drawingml/2006/main">
            <a:pPr marL="971550" indent="-514350">
              <a:buAutoNum type="arabicPeriod"/>
            </a:pPr>
            <a:r>
              <a:t>Trajectory data analysis for cell membrane physical properties</a:t>
            </a:r>
          </a:p>
          <a:p xmlns:a="http://schemas.openxmlformats.org/drawingml/2006/main">
            <a:pPr marL="971550" indent="-514350">
              <a:buAutoNum type="arabicPeriod"/>
            </a:pPr>
            <a:r>
              <a:t>Optics Express: shot-noise limited localization of single 20 nm gold particles</a:t>
            </a:r>
          </a:p>
        </p:txBody>
      </p:sp>
      <p:pic>
        <p:nvPicPr>
          <p:cNvPr id="4" name="vaccinia_virus_tracking_Cine41_vide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b9529251e41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403652"/>
            <a:ext cx="2555290" cy="2555290"/>
          </a:xfrm>
          <a:prstGeom xmlns:a="http://schemas.openxmlformats.org/drawingml/2006/main" prst="rect">
            <a:avLst/>
          </a:prstGeom>
        </p:spPr>
      </p:pic>
      <p:pic>
        <p:nvPicPr>
          <p:cNvPr id="5" name="圖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7dc5ec69c48bf"/>
          <a:srcRect xmlns:a="http://schemas.openxmlformats.org/drawingml/2006/main" l="12258" t="38597" r="29805" b="20935"/>
          <a:stretch xmlns:a="http://schemas.openxmlformats.org/drawingml/2006/main"/>
        </p:blipFill>
        <p:spPr>
          <a:xfrm xmlns:a="http://schemas.openxmlformats.org/drawingml/2006/main">
            <a:off x="8833607" y="2293653"/>
            <a:ext cx="3103691" cy="306822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13028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3019E36-41E8-1AAF-FB9F-7F69B39E8F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109" y="0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Other</a:t>
            </a:r>
          </a:p>
        </p:txBody>
      </p:sp>
      <p:pic>
        <p:nvPicPr>
          <p:cNvPr id="3" name="圖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9c240b5be541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56787" y="328001"/>
            <a:ext cx="2743200" cy="2072449"/>
          </a:xfrm>
          <a:prstGeom xmlns:a="http://schemas.openxmlformats.org/drawingml/2006/main" prst="rect">
            <a:avLst/>
          </a:prstGeom>
        </p:spPr>
      </p:pic>
      <p:pic>
        <p:nvPicPr>
          <p:cNvPr id="4" name="圖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ead6c2939147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5683" y="328350"/>
            <a:ext cx="2743200" cy="2060620"/>
          </a:xfrm>
          <a:prstGeom xmlns:a="http://schemas.openxmlformats.org/drawingml/2006/main" prst="rect">
            <a:avLst/>
          </a:prstGeom>
        </p:spPr>
      </p:pic>
      <p:pic>
        <p:nvPicPr>
          <p:cNvPr id="5" name="圖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e55d905504b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2755" y="4963104"/>
            <a:ext cx="1896534" cy="1896534"/>
          </a:xfrm>
          <a:prstGeom xmlns:a="http://schemas.openxmlformats.org/drawingml/2006/main" prst="rect">
            <a:avLst/>
          </a:prstGeom>
        </p:spPr>
      </p:pic>
      <p:pic>
        <p:nvPicPr>
          <p:cNvPr id="6" name="圖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de37f46da42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04003" y="4964094"/>
            <a:ext cx="1896534" cy="1896534"/>
          </a:xfrm>
          <a:prstGeom xmlns:a="http://schemas.openxmlformats.org/drawingml/2006/main" prst="rect">
            <a:avLst/>
          </a:prstGeom>
        </p:spPr>
      </p:pic>
      <p:pic>
        <p:nvPicPr>
          <p:cNvPr id="7" name="圖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70e330ceaf4f6b"/>
          <a:srcRect xmlns:a="http://schemas.openxmlformats.org/drawingml/2006/main" l="0" t="2533" r="-187" b="-368"/>
          <a:stretch xmlns:a="http://schemas.openxmlformats.org/drawingml/2006/main"/>
        </p:blipFill>
        <p:spPr>
          <a:xfrm xmlns:a="http://schemas.openxmlformats.org/drawingml/2006/main">
            <a:off x="4612152" y="3101126"/>
            <a:ext cx="7584379" cy="3755881"/>
          </a:xfrm>
          <a:prstGeom xmlns:a="http://schemas.openxmlformats.org/drawingml/2006/main" prst="rect">
            <a:avLst/>
          </a:prstGeom>
        </p:spPr>
      </p:pic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B8986A5-11C6-48AD-B4F5-8651185E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4095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AI / Deep Learning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Stable Diffusion LoRA / finetune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YOLO mask recognition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Spine marker image processing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LLM workflow: Gemini / ChatGPT / Claude / Grok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Antigravity / Claude Code</a:t>
            </a:r>
          </a:p>
        </p:txBody>
      </p:sp>
    </p:spTree>
    <p:extLst>
      <p:ext uri="{BB962C8B-B14F-4D97-AF65-F5344CB8AC3E}">
        <p14:creationId xmlns:p14="http://schemas.microsoft.com/office/powerpoint/2010/main" val="420747623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3019E36-41E8-1AAF-FB9F-7F69B39E8F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2450" y="228600"/>
            <a:ext cx="10668000" cy="781050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Project Demo / 專案分組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B8986A5-11C6-48AD-B4F5-8651185E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4810125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只保留 demo_link 目前有的 Demo，並統一使用桌面版截圖。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1. 地圖 / 路線：Mapping Elf、Mapping Star、Railway Elf。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2. 遊戲 / 音訊：Hex Snake、Music Elf。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3. 工作流 / 寫作 / 輸入：Agent Task Manager、Novel Elf、Elven Chewing。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4. 其他小工具：IIR Filter Tool、Web TSP App、Win Rate Calculator。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介紹重點：每個專案為什麼做、解決什麼問題、可以如何 demo。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55e96c7294883"/>
          <a:stretch xmlns:a="http://schemas.openxmlformats.org/drawingml/2006/main"/>
        </p:blipFill>
        <p:spPr>
          <a:xfrm xmlns:a="http://schemas.openxmlformats.org/drawingml/2006/main">
            <a:off x="6953250" y="1285875"/>
            <a:ext cx="3810000" cy="2143125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ca67493244133"/>
          <a:stretch xmlns:a="http://schemas.openxmlformats.org/drawingml/2006/main"/>
        </p:blipFill>
        <p:spPr>
          <a:xfrm xmlns:a="http://schemas.openxmlformats.org/drawingml/2006/main">
            <a:off x="6191250" y="3774281"/>
            <a:ext cx="2571750" cy="1785938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fd331f5d474d45"/>
          <a:stretch xmlns:a="http://schemas.openxmlformats.org/drawingml/2006/main"/>
        </p:blipFill>
        <p:spPr>
          <a:xfrm xmlns:a="http://schemas.openxmlformats.org/drawingml/2006/main">
            <a:off x="8953500" y="3912870"/>
            <a:ext cx="2571750" cy="15087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47623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3019E36-41E8-1AAF-FB9F-7F69B39E8F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2450" y="228600"/>
            <a:ext cx="10668000" cy="781050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>
                <a:solidFill>
                  <a:srgbClr val="111111"/>
                </a:solidFill>
                <a:latin typeface="Arial"/>
                <a:ea typeface="Arial"/>
                <a:cs typeface="Arial"/>
              </a:rPr>
              <a:t>Mapping Elf / Mapping Star / Railway Elf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B8986A5-11C6-48AD-B4F5-8651185E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4810125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Mapping Elf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目的：把 GPX/KML 路線規劃、海拔剖面與天氣時間軸放在同一個戶外路線工具。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Mapping Star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目的：把 POI 搜尋與幾何排列轉成可互動的五/六芒星路線視覺化。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Railway Elf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目的：用地圖方式檢視鐵道路線與站點資料，做成可分享的輕量 Demo。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94696323354751"/>
          <a:stretch xmlns:a="http://schemas.openxmlformats.org/drawingml/2006/main"/>
        </p:blipFill>
        <p:spPr>
          <a:xfrm xmlns:a="http://schemas.openxmlformats.org/drawingml/2006/main">
            <a:off x="7143750" y="1285875"/>
            <a:ext cx="3429000" cy="2143125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ff4293e6154fb4"/>
          <a:stretch xmlns:a="http://schemas.openxmlformats.org/drawingml/2006/main"/>
        </p:blipFill>
        <p:spPr>
          <a:xfrm xmlns:a="http://schemas.openxmlformats.org/drawingml/2006/main">
            <a:off x="6191250" y="3943945"/>
            <a:ext cx="2571750" cy="1446609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0531fe5dc4059"/>
          <a:stretch xmlns:a="http://schemas.openxmlformats.org/drawingml/2006/main"/>
        </p:blipFill>
        <p:spPr>
          <a:xfrm xmlns:a="http://schemas.openxmlformats.org/drawingml/2006/main">
            <a:off x="8953500" y="3845719"/>
            <a:ext cx="2571750" cy="16430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47623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3019E36-41E8-1AAF-FB9F-7F69B39E8F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2450" y="228600"/>
            <a:ext cx="10668000" cy="781050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>
                <a:solidFill>
                  <a:srgbClr val="111111"/>
                </a:solidFill>
                <a:latin typeface="Arial"/>
                <a:ea typeface="Arial"/>
                <a:cs typeface="Arial"/>
              </a:rPr>
              <a:t>Hex Snake / Music Elf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B8986A5-11C6-48AD-B4F5-8651185E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4810125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Hex Snake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目的：用六角格蛇遊戲驗證 AI 對弈、角色技能、重播與平衡模擬。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Music Elf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目的：把歌聲或旋律分析成 MIDI / MusicXML，讓音高、節奏與和弦推斷可視化。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共同重點：把演算法做成可操作的互動 Demo，面試時能直接展示輸入與結果。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d4d51654c424e"/>
          <a:stretch xmlns:a="http://schemas.openxmlformats.org/drawingml/2006/main"/>
        </p:blipFill>
        <p:spPr>
          <a:xfrm xmlns:a="http://schemas.openxmlformats.org/drawingml/2006/main">
            <a:off x="7017652" y="1381125"/>
            <a:ext cx="3490696" cy="2047875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41ec43b60e4986"/>
          <a:stretch xmlns:a="http://schemas.openxmlformats.org/drawingml/2006/main"/>
        </p:blipFill>
        <p:spPr>
          <a:xfrm xmlns:a="http://schemas.openxmlformats.org/drawingml/2006/main">
            <a:off x="7288530" y="3714750"/>
            <a:ext cx="2948940" cy="2047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47623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3019E36-41E8-1AAF-FB9F-7F69B39E8F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2450" y="228600"/>
            <a:ext cx="10668000" cy="781050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Agent Task Manager / Novel Elf / Elven Chewing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B8986A5-11C6-48AD-B4F5-8651185E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4810125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Agent Task Manager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目的：集中管理多個 dev server、log 與 health check，讓 Agent Coding 驗證流程更順。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Novel Elf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目的：整理長篇小說世界觀、角色、章節與寫作脈絡，讓 LLM 協作更可控。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Elven Chewing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目的：用 WebAssembly Demo 驗證注音輸入核心，再銜接 Windows TSF 輸入法。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1e874477824520"/>
          <a:stretch xmlns:a="http://schemas.openxmlformats.org/drawingml/2006/main"/>
        </p:blipFill>
        <p:spPr>
          <a:xfrm xmlns:a="http://schemas.openxmlformats.org/drawingml/2006/main">
            <a:off x="7315200" y="1285875"/>
            <a:ext cx="3086100" cy="2143125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eb7cd7cce47d7"/>
          <a:stretch xmlns:a="http://schemas.openxmlformats.org/drawingml/2006/main"/>
        </p:blipFill>
        <p:spPr>
          <a:xfrm xmlns:a="http://schemas.openxmlformats.org/drawingml/2006/main">
            <a:off x="6191250" y="3774281"/>
            <a:ext cx="2571750" cy="1785938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e083b2f8948e0"/>
          <a:stretch xmlns:a="http://schemas.openxmlformats.org/drawingml/2006/main"/>
        </p:blipFill>
        <p:spPr>
          <a:xfrm xmlns:a="http://schemas.openxmlformats.org/drawingml/2006/main">
            <a:off x="8953500" y="3774281"/>
            <a:ext cx="2571750" cy="17859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47623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3019E36-41E8-1AAF-FB9F-7F69B39E8F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2450" y="228600"/>
            <a:ext cx="10668000" cy="781050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>
                <a:solidFill>
                  <a:srgbClr val="111111"/>
                </a:solidFill>
                <a:latin typeface="Arial"/>
                <a:ea typeface="Arial"/>
                <a:cs typeface="Arial"/>
              </a:rPr>
              <a:t>Other Tools / 其他小工具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B8986A5-11C6-48AD-B4F5-8651185E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4810125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IIR Filter Tool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目的：互動調整 DSP 濾波器係數，立即檢查頻率響應。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Web TSP App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目的：用視覺化方式展示旅行推銷員路徑最佳化。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Win Rate Calculator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目的：把勝率、機率與情境假設做成可快速試算的網頁工具。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6e604012d4d74"/>
          <a:stretch xmlns:a="http://schemas.openxmlformats.org/drawingml/2006/main"/>
        </p:blipFill>
        <p:spPr>
          <a:xfrm xmlns:a="http://schemas.openxmlformats.org/drawingml/2006/main">
            <a:off x="7143750" y="1285875"/>
            <a:ext cx="3429000" cy="2143125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f12c81f7b490f"/>
          <a:stretch xmlns:a="http://schemas.openxmlformats.org/drawingml/2006/main"/>
        </p:blipFill>
        <p:spPr>
          <a:xfrm xmlns:a="http://schemas.openxmlformats.org/drawingml/2006/main">
            <a:off x="6191250" y="3774281"/>
            <a:ext cx="2571750" cy="1785938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c71604d554eed"/>
          <a:stretch xmlns:a="http://schemas.openxmlformats.org/drawingml/2006/main"/>
        </p:blipFill>
        <p:spPr>
          <a:xfrm xmlns:a="http://schemas.openxmlformats.org/drawingml/2006/main">
            <a:off x="8953500" y="3858220"/>
            <a:ext cx="2571750" cy="16180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476239"/>
      </p:ext>
    </p:extLst>
  </p:cSld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2026-05-24T18:59:39.0650000Z</dcterms:created>
  <dcterms:modified xsi:type="dcterms:W3CDTF">2026-05-24T18:59:39.0650000Z</dcterms:modified>
</coreProperties>
</file>