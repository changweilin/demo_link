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536358fb1d421b" /><Relationship Type="http://schemas.openxmlformats.org/officeDocument/2006/relationships/extended-properties" Target="/docProps/app.xml" Id="R863fe80d5f3a4e2f" /><Relationship Type="http://schemas.openxmlformats.org/officeDocument/2006/relationships/officeDocument" Target="/ppt/presentation.xml" Id="Rbaa4f9cbe9014f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617a53f1eb44f1"/>
  </p:sldMasterIdLst>
  <p:notesMasterIdLst>
    <p:notesMasterId xmlns:r="http://schemas.openxmlformats.org/officeDocument/2006/relationships" r:id="R3409637b782c47af"/>
  </p:notesMasterIdLst>
  <p:sldIdLst>
    <p:sldId xmlns:r="http://schemas.openxmlformats.org/officeDocument/2006/relationships" id="256" r:id="Ra673f37598e94e7b"/>
    <p:sldId xmlns:r="http://schemas.openxmlformats.org/officeDocument/2006/relationships" id="257" r:id="R497ccb25c4b1407a"/>
    <p:sldId xmlns:r="http://schemas.openxmlformats.org/officeDocument/2006/relationships" id="258" r:id="R7e9acd8391fe4728"/>
    <p:sldId xmlns:r="http://schemas.openxmlformats.org/officeDocument/2006/relationships" id="259" r:id="Rc32607491906451f"/>
    <p:sldId xmlns:r="http://schemas.openxmlformats.org/officeDocument/2006/relationships" id="260" r:id="R54816a8c6cfc4185"/>
    <p:sldId xmlns:r="http://schemas.openxmlformats.org/officeDocument/2006/relationships" id="261" r:id="R1209ad238b214c96"/>
    <p:sldId xmlns:r="http://schemas.openxmlformats.org/officeDocument/2006/relationships" id="262" r:id="R2dd1b733ccd54b5e"/>
    <p:sldId xmlns:r="http://schemas.openxmlformats.org/officeDocument/2006/relationships" id="263" r:id="R3d8c63dc25314670"/>
    <p:sldId xmlns:r="http://schemas.openxmlformats.org/officeDocument/2006/relationships" id="264" r:id="R841ee8c05f64489f"/>
    <p:sldId xmlns:r="http://schemas.openxmlformats.org/officeDocument/2006/relationships" id="265" r:id="R01f39e2458c5476f"/>
    <p:sldId xmlns:r="http://schemas.openxmlformats.org/officeDocument/2006/relationships" id="266" r:id="R386d7a686fe44db1"/>
    <p:sldId xmlns:r="http://schemas.openxmlformats.org/officeDocument/2006/relationships" id="267" r:id="R75320ad042cb44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617a53f1eb44f1" /><Relationship Type="http://schemas.openxmlformats.org/officeDocument/2006/relationships/theme" Target="/ppt/theme/theme1.xml" Id="R2ae5b169cec04a44" /><Relationship Type="http://schemas.openxmlformats.org/officeDocument/2006/relationships/notesMaster" Target="/ppt/notesMasters/notesMaster1.xml" Id="R3409637b782c47af" /><Relationship Type="http://schemas.openxmlformats.org/officeDocument/2006/relationships/presProps" Target="/ppt/presProps.xml" Id="R594bac7d74bf4a64" /><Relationship Type="http://schemas.openxmlformats.org/officeDocument/2006/relationships/viewProps" Target="/ppt/viewProps.xml" Id="Rb06d4bfd48b74da3" /><Relationship Type="http://schemas.openxmlformats.org/officeDocument/2006/relationships/tableStyles" Target="/ppt/tableStyles.xml" Id="R013a48c8f21d4016" /><Relationship Type="http://schemas.openxmlformats.org/officeDocument/2006/relationships/slide" Target="/ppt/slides/slide1.xml" Id="Ra673f37598e94e7b" /><Relationship Type="http://schemas.openxmlformats.org/officeDocument/2006/relationships/slide" Target="/ppt/slides/slide2.xml" Id="R497ccb25c4b1407a" /><Relationship Type="http://schemas.openxmlformats.org/officeDocument/2006/relationships/slide" Target="/ppt/slides/slide3.xml" Id="R7e9acd8391fe4728" /><Relationship Type="http://schemas.openxmlformats.org/officeDocument/2006/relationships/slide" Target="/ppt/slides/slide4.xml" Id="Rc32607491906451f" /><Relationship Type="http://schemas.openxmlformats.org/officeDocument/2006/relationships/slide" Target="/ppt/slides/slide5.xml" Id="R54816a8c6cfc4185" /><Relationship Type="http://schemas.openxmlformats.org/officeDocument/2006/relationships/slide" Target="/ppt/slides/slide6.xml" Id="R1209ad238b214c96" /><Relationship Type="http://schemas.openxmlformats.org/officeDocument/2006/relationships/slide" Target="/ppt/slides/slide7.xml" Id="R2dd1b733ccd54b5e" /><Relationship Type="http://schemas.openxmlformats.org/officeDocument/2006/relationships/slide" Target="/ppt/slides/slide8.xml" Id="R3d8c63dc25314670" /><Relationship Type="http://schemas.openxmlformats.org/officeDocument/2006/relationships/slide" Target="/ppt/slides/slide9.xml" Id="R841ee8c05f64489f" /><Relationship Type="http://schemas.openxmlformats.org/officeDocument/2006/relationships/slide" Target="/ppt/slides/slide10.xml" Id="R01f39e2458c5476f" /><Relationship Type="http://schemas.openxmlformats.org/officeDocument/2006/relationships/slide" Target="/ppt/slides/slide11.xml" Id="R386d7a686fe44db1" /><Relationship Type="http://schemas.openxmlformats.org/officeDocument/2006/relationships/slide" Target="/ppt/slides/slide12.xml" Id="R75320ad042cb44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d56e4a347c843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ae3f2dfbfb41b0" /><Relationship Type="http://schemas.openxmlformats.org/officeDocument/2006/relationships/notesMaster" Target="/ppt/notesMasters/notesMaster1.xml" Id="R35d893b883df45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0ff11345554251" /><Relationship Type="http://schemas.openxmlformats.org/officeDocument/2006/relationships/notesMaster" Target="/ppt/notesMasters/notesMaster1.xml" Id="R9592d283a67843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0e825d46aa454f" /><Relationship Type="http://schemas.openxmlformats.org/officeDocument/2006/relationships/notesMaster" Target="/ppt/notesMasters/notesMaster1.xml" Id="Ra163f23bb21e47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929daa9ed945af" /><Relationship Type="http://schemas.openxmlformats.org/officeDocument/2006/relationships/notesMaster" Target="/ppt/notesMasters/notesMaster1.xml" Id="Rc2739e44d28f4f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8c1d7ead374943" /><Relationship Type="http://schemas.openxmlformats.org/officeDocument/2006/relationships/notesMaster" Target="/ppt/notesMasters/notesMaster1.xml" Id="R8eb9442e76d84c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6d413e44514694" /><Relationship Type="http://schemas.openxmlformats.org/officeDocument/2006/relationships/notesMaster" Target="/ppt/notesMasters/notesMaster1.xml" Id="R787a4adc113844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6a6612c4e9403f" /><Relationship Type="http://schemas.openxmlformats.org/officeDocument/2006/relationships/notesMaster" Target="/ppt/notesMasters/notesMaster1.xml" Id="Re49b095a461741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997ab3aafd4ed8" /><Relationship Type="http://schemas.openxmlformats.org/officeDocument/2006/relationships/notesMaster" Target="/ppt/notesMasters/notesMaster1.xml" Id="R1e405a60efc74b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c55a35cb644c46" /><Relationship Type="http://schemas.openxmlformats.org/officeDocument/2006/relationships/notesMaster" Target="/ppt/notesMasters/notesMaster1.xml" Id="Rb47ea3175aea43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1c8de21fe541a2" /><Relationship Type="http://schemas.openxmlformats.org/officeDocument/2006/relationships/notesMaster" Target="/ppt/notesMasters/notesMaster1.xml" Id="Rc87f882b1a9343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d1e00199ed44c0" /><Relationship Type="http://schemas.openxmlformats.org/officeDocument/2006/relationships/notesMaster" Target="/ppt/notesMasters/notesMaster1.xml" Id="R8126ffe60a4a4f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4bce492fa749cb" /><Relationship Type="http://schemas.openxmlformats.org/officeDocument/2006/relationships/notesMaster" Target="/ppt/notesMasters/notesMaster1.xml" Id="R71c77ab0eb4b47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a2ed226529483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54bf2f39a34b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8843f12cf047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55e0fb798d42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ea46dddcae454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20a0bde504472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2f99511cd84bf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6f430683ff46a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fd67717fcf427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f2b15533b24f7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7a9bc105e14c0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2301923" y="1122363"/>
            <a:ext cx="7588155" cy="2621154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000"/>
            </a:lvl1pPr>
          </a:lstStyle>
          <a:p xmlns:a="http://schemas.openxmlformats.org/drawingml/2006/main"/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2301923" y="3843708"/>
            <a:ext cx="7588155" cy="141409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9634888" y="578497"/>
            <a:ext cx="2047037" cy="5598466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578497"/>
            <a:ext cx="8796688" cy="559846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94360" y="557784"/>
            <a:ext cx="3595634" cy="2212313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/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063319" y="657103"/>
            <a:ext cx="6483687" cy="5555904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609601" y="2826137"/>
            <a:ext cx="3585586" cy="343463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9600" y="547396"/>
            <a:ext cx="10745788" cy="11432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9600" y="1685735"/>
            <a:ext cx="5157787" cy="559834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lnSpc>
                <a:spcPct val="90000"/>
              </a:lnSpc>
              <a:buNone/>
              <a:defRPr sz="2000" b="1" cap="all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09600" y="2386894"/>
            <a:ext cx="5157787" cy="376508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5735"/>
            <a:ext cx="5183188" cy="559834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lnSpc>
                <a:spcPct val="90000"/>
              </a:lnSpc>
              <a:buNone/>
              <a:defRPr sz="2000" b="1" cap="all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199" y="2386894"/>
            <a:ext cx="5183189" cy="376508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12648" y="548640"/>
            <a:ext cx="10515600" cy="113225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12648" y="1680898"/>
            <a:ext cx="10515600" cy="449606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597160" y="553616"/>
            <a:ext cx="3595634" cy="1757505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34708" y="553616"/>
            <a:ext cx="6279741" cy="54864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597160" y="2311121"/>
            <a:ext cx="3595634" cy="3728895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03381" y="553616"/>
            <a:ext cx="8273140" cy="4008859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>
              <a:buNone/>
              <a:defRPr sz="5400" cap="all"/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03380" y="4589463"/>
            <a:ext cx="8273140" cy="138461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12648" y="548640"/>
            <a:ext cx="10741152" cy="113225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12648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6dd8990296a4dc9" /><Relationship Type="http://schemas.openxmlformats.org/officeDocument/2006/relationships/slideLayout" Target="/ppt/slideLayouts/slideLayout2.xml" Id="R33b23ab75ab341fd" /><Relationship Type="http://schemas.openxmlformats.org/officeDocument/2006/relationships/slideLayout" Target="/ppt/slideLayouts/slideLayout3.xml" Id="R7248d21f7c574d17" /><Relationship Type="http://schemas.openxmlformats.org/officeDocument/2006/relationships/slideLayout" Target="/ppt/slideLayouts/slideLayout4.xml" Id="Rac514c5d6afa46ec" /><Relationship Type="http://schemas.openxmlformats.org/officeDocument/2006/relationships/slideLayout" Target="/ppt/slideLayouts/slideLayout5.xml" Id="R99fa9277078e41c9" /><Relationship Type="http://schemas.openxmlformats.org/officeDocument/2006/relationships/slideLayout" Target="/ppt/slideLayouts/slideLayout6.xml" Id="R40f2938582e54074" /><Relationship Type="http://schemas.openxmlformats.org/officeDocument/2006/relationships/slideLayout" Target="/ppt/slideLayouts/slideLayout7.xml" Id="R1204c0dcecd24498" /><Relationship Type="http://schemas.openxmlformats.org/officeDocument/2006/relationships/slideLayout" Target="/ppt/slideLayouts/slideLayout8.xml" Id="R302913f7f75d442e" /><Relationship Type="http://schemas.openxmlformats.org/officeDocument/2006/relationships/slideLayout" Target="/ppt/slideLayouts/slideLayout9.xml" Id="Rdb8cfee831624e1b" /><Relationship Type="http://schemas.openxmlformats.org/officeDocument/2006/relationships/slideLayout" Target="/ppt/slideLayouts/slideLayout10.xml" Id="R25da8d5ef6474d2e" /><Relationship Type="http://schemas.openxmlformats.org/officeDocument/2006/relationships/slideLayout" Target="/ppt/slideLayouts/slideLayout11.xml" Id="R66da6baa8582401f" /><Relationship Type="http://schemas.openxmlformats.org/officeDocument/2006/relationships/slideLayout" Target="/ppt/slideLayouts/slideLayout12.xml" Id="R724b245ab04c4fe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12648" y="548640"/>
            <a:ext cx="10653578" cy="11322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12647" y="1715532"/>
            <a:ext cx="10653579" cy="45938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137160" y="6453002"/>
            <a:ext cx="3494314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8876521" y="6453002"/>
            <a:ext cx="280540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11632162" y="6453002"/>
            <a:ext cx="429207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b23ab75ab341fd"/>
    <p:sldLayoutId xmlns:r="http://schemas.openxmlformats.org/officeDocument/2006/relationships" id="2147483650" r:id="R7248d21f7c574d17"/>
    <p:sldLayoutId xmlns:r="http://schemas.openxmlformats.org/officeDocument/2006/relationships" id="2147483651" r:id="Rac514c5d6afa46ec"/>
    <p:sldLayoutId xmlns:r="http://schemas.openxmlformats.org/officeDocument/2006/relationships" id="2147483652" r:id="R99fa9277078e41c9"/>
    <p:sldLayoutId xmlns:r="http://schemas.openxmlformats.org/officeDocument/2006/relationships" id="2147483653" r:id="R40f2938582e54074"/>
    <p:sldLayoutId xmlns:r="http://schemas.openxmlformats.org/officeDocument/2006/relationships" id="2147483654" r:id="R1204c0dcecd24498"/>
    <p:sldLayoutId xmlns:r="http://schemas.openxmlformats.org/officeDocument/2006/relationships" id="2147483655" r:id="R302913f7f75d442e"/>
    <p:sldLayoutId xmlns:r="http://schemas.openxmlformats.org/officeDocument/2006/relationships" id="2147483656" r:id="Rdb8cfee831624e1b"/>
    <p:sldLayoutId xmlns:r="http://schemas.openxmlformats.org/officeDocument/2006/relationships" id="2147483657" r:id="R25da8d5ef6474d2e"/>
    <p:sldLayoutId xmlns:r="http://schemas.openxmlformats.org/officeDocument/2006/relationships" id="2147483658" r:id="R66da6baa8582401f"/>
    <p:sldLayoutId xmlns:r="http://schemas.openxmlformats.org/officeDocument/2006/relationships" id="2147483659" r:id="R724b245ab04c4f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3600" b="1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120000"/>
        </a:lnSpc>
        <a:spcBef>
          <a:spcPts val="10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indent="-228600" algn="l">
        <a:lnSpc>
          <a:spcPct val="12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indent="-228600" algn="l">
        <a:lnSpc>
          <a:spcPct val="120000"/>
        </a:lnSpc>
        <a:spcBef>
          <a:spcPts val="500"/>
        </a:spcBef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914400" indent="-228600" algn="l">
        <a:lnSpc>
          <a:spcPct val="120000"/>
        </a:lnSpc>
        <a:spcBef>
          <a:spcPts val="500"/>
        </a:spcBef>
        <a:buChar char="•"/>
        <a:defRPr sz="14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43000" indent="-228600" algn="l">
        <a:lnSpc>
          <a:spcPct val="120000"/>
        </a:lnSpc>
        <a:spcBef>
          <a:spcPts val="500"/>
        </a:spcBef>
        <a:buChar char="•"/>
        <a:defRPr sz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53f374d17b4dec" /><Relationship Type="http://schemas.openxmlformats.org/officeDocument/2006/relationships/image" Target="/ppt/media/image.jpeg" Id="R1e352ccb925a4dfb" /><Relationship Type="http://schemas.openxmlformats.org/officeDocument/2006/relationships/notesSlide" Target="/ppt/notesSlides/notesSlide1.xml" Id="R7bb81b43ffc149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9c02de60e07044e9" /><Relationship Type="http://schemas.openxmlformats.org/officeDocument/2006/relationships/image" Target="/ppt/media/image.png" Id="R52d3bb22fe524fae" /><Relationship Type="http://schemas.openxmlformats.org/officeDocument/2006/relationships/notesSlide" Target="/ppt/notesSlides/notesSlide2.xml" Id="Rf35865ce0b7e44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f2d3f02deb424bbe" /><Relationship Type="http://schemas.openxmlformats.org/officeDocument/2006/relationships/image" Target="/ppt/media/image.gif" Id="Ra210c3d2aefb4ec5" /><Relationship Type="http://schemas.openxmlformats.org/officeDocument/2006/relationships/image" Target="/ppt/media/image2.jpeg" Id="R38c245880ee14862" /><Relationship Type="http://schemas.openxmlformats.org/officeDocument/2006/relationships/notesSlide" Target="/ppt/notesSlides/notesSlide3.xml" Id="Red7cd83771a74c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e1e4bec587224383" /><Relationship Type="http://schemas.openxmlformats.org/officeDocument/2006/relationships/image" Target="/ppt/media/image2.png" Id="R56fa6473fdc147d2" /><Relationship Type="http://schemas.openxmlformats.org/officeDocument/2006/relationships/notesSlide" Target="/ppt/notesSlides/notesSlide4.xml" Id="Rdae2e68b9e3649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2fe8591853cf4f70" /><Relationship Type="http://schemas.openxmlformats.org/officeDocument/2006/relationships/image" Target="/ppt/media/image3.png" Id="R990c489abc2f4725" /><Relationship Type="http://schemas.openxmlformats.org/officeDocument/2006/relationships/notesSlide" Target="/ppt/notesSlides/notesSlide5.xml" Id="Rf2a6722b875142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a6a49657f6fe4f2e" /><Relationship Type="http://schemas.openxmlformats.org/officeDocument/2006/relationships/image" Target="/ppt/media/image4.png" Id="Rb28497d529e64cf6" /><Relationship Type="http://schemas.openxmlformats.org/officeDocument/2006/relationships/image" Target="/ppt/media/image5.png" Id="Ra657e8e5bf0840cd" /><Relationship Type="http://schemas.openxmlformats.org/officeDocument/2006/relationships/image" Target="/ppt/media/image3.jpeg" Id="Rbfd9eaa16aeb4d8c" /><Relationship Type="http://schemas.openxmlformats.org/officeDocument/2006/relationships/notesSlide" Target="/ppt/notesSlides/notesSlide6.xml" Id="R369563d2bac744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ccd8e5fbd51c44ed" /><Relationship Type="http://schemas.openxmlformats.org/officeDocument/2006/relationships/image" Target="/ppt/media/image4.jpeg" Id="R47e00ff0119248ad" /><Relationship Type="http://schemas.openxmlformats.org/officeDocument/2006/relationships/image" Target="/ppt/media/image5.jpeg" Id="R81d4f00ca96143ca" /><Relationship Type="http://schemas.openxmlformats.org/officeDocument/2006/relationships/notesSlide" Target="/ppt/notesSlides/notesSlide7.xml" Id="R0a1c95c0264c4c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c93e288719bf482c" /><Relationship Type="http://schemas.openxmlformats.org/officeDocument/2006/relationships/image" Target="/ppt/media/image6.png" Id="R859b01e3a0ca421d" /><Relationship Type="http://schemas.openxmlformats.org/officeDocument/2006/relationships/image" Target="/ppt/media/image7.png" Id="R4e40bd1d41d8421e" /><Relationship Type="http://schemas.openxmlformats.org/officeDocument/2006/relationships/image" Target="/ppt/media/image8.png" Id="Re9a24d14becc466d" /><Relationship Type="http://schemas.openxmlformats.org/officeDocument/2006/relationships/notesSlide" Target="/ppt/notesSlides/notesSlide8.xml" Id="R0592249ff6d149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9ad35aaa481e424e" /><Relationship Type="http://schemas.openxmlformats.org/officeDocument/2006/relationships/image" Target="/ppt/media/image9.png" Id="R872dbbd9b4494ddf" /><Relationship Type="http://schemas.openxmlformats.org/officeDocument/2006/relationships/image" Target="/ppt/media/image10.png" Id="R0e54f548a1134e76" /><Relationship Type="http://schemas.openxmlformats.org/officeDocument/2006/relationships/image" Target="/ppt/media/image11.png" Id="R1d0979a15e904f2e" /><Relationship Type="http://schemas.openxmlformats.org/officeDocument/2006/relationships/notesSlide" Target="/ppt/notesSlides/notesSlide9.xml" Id="R230ee0842c0940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d893dfc8f3934ffb" /><Relationship Type="http://schemas.openxmlformats.org/officeDocument/2006/relationships/image" Target="/ppt/media/image12.png" Id="R29383edfa26f4e6a" /><Relationship Type="http://schemas.openxmlformats.org/officeDocument/2006/relationships/image" Target="/ppt/media/image13.png" Id="R7ff1d60367a041da" /><Relationship Type="http://schemas.openxmlformats.org/officeDocument/2006/relationships/notesSlide" Target="/ppt/notesSlides/notesSlide10.xml" Id="Rfef89c8a7a4948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a168201f6ca44f28" /><Relationship Type="http://schemas.openxmlformats.org/officeDocument/2006/relationships/image" Target="/ppt/media/image14.png" Id="R9d80048368184a4b" /><Relationship Type="http://schemas.openxmlformats.org/officeDocument/2006/relationships/image" Target="/ppt/media/image15.png" Id="R7100d8a228fb4edc" /><Relationship Type="http://schemas.openxmlformats.org/officeDocument/2006/relationships/image" Target="/ppt/media/image16.png" Id="Rf38b32e92a9a48e4" /><Relationship Type="http://schemas.openxmlformats.org/officeDocument/2006/relationships/notesSlide" Target="/ppt/notesSlides/notesSlide11.xml" Id="R1944d5e36d9640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882a7c7d94c54cbe" /><Relationship Type="http://schemas.openxmlformats.org/officeDocument/2006/relationships/image" Target="/ppt/media/image17.png" Id="Re73e5a54c7084ae3" /><Relationship Type="http://schemas.openxmlformats.org/officeDocument/2006/relationships/image" Target="/ppt/media/image18.png" Id="R0defa59ff8a34d5b" /><Relationship Type="http://schemas.openxmlformats.org/officeDocument/2006/relationships/image" Target="/ppt/media/image19.png" Id="R6b3d19cbdb9648af" /><Relationship Type="http://schemas.openxmlformats.org/officeDocument/2006/relationships/notesSlide" Target="/ppt/notesSlides/notesSlide12.xml" Id="R70ad270ac2fe405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927A720-2F0F-7CF7-72C2-7618B3A28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786566"/>
            <a:ext cx="9144000" cy="150854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張維麟, Chang Wei Lin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1F59B5AA-7DA1-36E6-EEAF-CA2C6D18E0E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2993777"/>
            <a:ext cx="5269424" cy="1500652"/>
          </a:xfrm>
        </p:spPr>
        <p:txBody>
          <a:bodyPr xmlns:a="http://schemas.openxmlformats.org/drawingml/2006/main" vert="horz" lIns="91440" tIns="45720" rIns="91440" bIns="45720" anchor="t">
            <a:normAutofit fontScale="93706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 i="0">
                <a:solidFill>
                  <a:srgbClr val="292929"/>
                </a:solidFill>
                <a:latin typeface="標楷體"/>
                <a:ea typeface="標楷體"/>
                <a:cs typeface="標楷體"/>
              </a:rPr>
              <a:t>宜蘭羅東人，物理背景的演算法工程師</a:t>
            </a:r>
          </a:p>
          <a:p xmlns:a="http://schemas.openxmlformats.org/drawingml/2006/main">
            <a:pPr algn="l">
              <a:buNone/>
            </a:pPr>
            <a:r>
              <a:rPr sz="2000" b="0" i="0">
                <a:solidFill>
                  <a:srgbClr val="292929"/>
                </a:solidFill>
                <a:latin typeface="標楷體"/>
                <a:ea typeface="標楷體"/>
                <a:cs typeface="標楷體"/>
              </a:rPr>
              <a:t>擅長 C/C++/Python，熱愛登山、重訓與桌遊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292929"/>
                </a:solidFill>
                <a:latin typeface="標楷體"/>
                <a:ea typeface="標楷體"/>
                <a:cs typeface="標楷體"/>
              </a:rPr>
              <a:t>關注 AI/LLM，善用 AI 工具學習與開發</a:t>
            </a:r>
          </a:p>
        </p:txBody>
      </p:sp>
      <p:sp>
        <p:nvSpPr>
          <p:cNvPr id="4" name="副標題 2">
            <a:extLst xmlns:a="http://schemas.openxmlformats.org/drawingml/2006/main">
              <a:ext uri="{FF2B5EF4-FFF2-40B4-BE49-F238E27FC236}">
                <a16:creationId xmlns:a16="http://schemas.microsoft.com/office/drawing/2014/main" id="{BD48276D-9030-3048-7837-A63D88B9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496" y="4757449"/>
            <a:ext cx="5408501" cy="15144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 fontScale="94961"/>
          </a:bodyPr>
          <a:lstStyle xmlns:a="http://schemas.openxmlformats.org/drawingml/2006/main">
            <a:lvl1pPr marL="0" indent="0" algn="ctr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</a:pPr>
            <a:r>
              <a:rPr sz="2000">
                <a:solidFill>
                  <a:srgbClr val="7E7E7E"/>
                </a:solidFill>
                <a:latin typeface="Arial"/>
                <a:ea typeface="Arial"/>
                <a:cs typeface="Arial"/>
              </a:rPr>
              <a:t>#C #C++ #Python #Assembly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7E7E7E"/>
                </a:solidFill>
                <a:latin typeface="Arial"/>
                <a:ea typeface="Arial"/>
                <a:cs typeface="Arial"/>
              </a:rPr>
              <a:t>#TensorFlow #PyTorch #Qt #OpenCV #YOLO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7E7E7E"/>
                </a:solidFill>
                <a:latin typeface="Arial"/>
                <a:ea typeface="Arial"/>
                <a:cs typeface="Arial"/>
              </a:rPr>
              <a:t>#StableDiffusion #LLM #Bash #Matlab #LabVIEW</a:t>
            </a:r>
          </a:p>
        </p:txBody>
      </p:sp>
      <p:pic>
        <p:nvPicPr>
          <p:cNvPr id="5" name="圖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52ccb925a4dfb"/>
          <a:srcRect xmlns:a="http://schemas.openxmlformats.org/drawingml/2006/main" l="18767" t="16429" r="27171" b="443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335" y="2663657"/>
            <a:ext cx="2780664" cy="2691341"/>
          </a:xfrm>
          <a:prstGeom xmlns:a="http://schemas.openxmlformats.org/drawingml/2006/main" prst="rect">
            <a:avLst/>
          </a:prstGeom>
        </p:spPr>
      </p:pic>
      <p:sp>
        <p:nvSpPr>
          <p:cNvPr id="6" name="文字方塊 5">
            <a:extLst xmlns:a="http://schemas.openxmlformats.org/drawingml/2006/main">
              <a:ext uri="{FF2B5EF4-FFF2-40B4-BE49-F238E27FC236}">
                <a16:creationId xmlns:a16="http://schemas.microsoft.com/office/drawing/2014/main" id="{8673F43F-5C06-6142-F6B1-3E2F5C31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010" y="5525146"/>
            <a:ext cx="274320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t>x111281@gmail.com</a:t>
            </a:r>
          </a:p>
          <a:p xmlns:a="http://schemas.openxmlformats.org/drawingml/2006/main">
            <a:r>
              <a:t>🔗 GitHub｜LinkedIn</a:t>
            </a:r>
          </a:p>
        </p:txBody>
      </p:sp>
    </p:spTree>
    <p:extLst>
      <p:ext uri="{BB962C8B-B14F-4D97-AF65-F5344CB8AC3E}">
        <p14:creationId xmlns:p14="http://schemas.microsoft.com/office/powerpoint/2010/main" val="13447336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E8A9877-55A8-CA86-4684-C3B286309A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8038" y="458234"/>
            <a:ext cx="10653578" cy="113225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600"/>
              <a:t>九齊科技, 演算法工程師, Nov 2022 ~ 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BA6B02BD-83F6-E006-45CC-1AC20041A4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64030" y="1334846"/>
            <a:ext cx="9987280" cy="5139167"/>
          </a:xfrm>
        </p:spPr>
        <p:txBody>
          <a:bodyPr xmlns:a="http://schemas.openxmlformats.org/drawingml/2006/main" vert="horz" lIns="91440" tIns="45720" rIns="91440" bIns="45720" anchor="t">
            <a:normAutofit fontScale="97972"/>
          </a:bodyPr>
          <a:lstStyle xmlns:a="http://schemas.openxmlformats.org/drawingml/2006/main"/>
          <a:p xmlns:a="http://schemas.openxmlformats.org/drawingml/2006/main">
            <a:r>
              <a:rPr sz="2400"/>
              <a:t>我參與開發與優化應用於語音控制</a:t>
            </a:r>
            <a:r>
              <a:rPr sz="2400"/>
              <a:t> </a:t>
            </a:r>
            <a:r>
              <a:rPr sz="2400"/>
              <a:t>IC、語音微控制器及</a:t>
            </a:r>
            <a:r>
              <a:rPr sz="2400"/>
              <a:t> LCD </a:t>
            </a:r>
            <a:r>
              <a:rPr sz="2400"/>
              <a:t>微控制器等核心產品上的語音演算法函式庫</a:t>
            </a:r>
            <a:r>
              <a:rPr sz="2400"/>
              <a:t>。</a:t>
            </a:r>
          </a:p>
          <a:p xmlns:a="http://schemas.openxmlformats.org/drawingml/2006/main">
            <a:r>
              <a:rPr sz="2400"/>
              <a:t>使用</a:t>
            </a:r>
            <a:r>
              <a:rPr sz="2400"/>
              <a:t> Python </a:t>
            </a:r>
            <a:r>
              <a:rPr sz="2400"/>
              <a:t>進行演算法模擬，並以</a:t>
            </a:r>
            <a:r>
              <a:rPr sz="2400"/>
              <a:t> C </a:t>
            </a:r>
            <a:r>
              <a:rPr sz="2400"/>
              <a:t>語言在資源有限的</a:t>
            </a:r>
            <a:r>
              <a:rPr sz="2400"/>
              <a:t> MCU </a:t>
            </a:r>
            <a:r>
              <a:rPr sz="2400"/>
              <a:t>環境中達成高效運算與優化。實現並改進以下演算法</a:t>
            </a:r>
            <a:r>
              <a:rPr sz="2400"/>
              <a:t>：</a:t>
            </a:r>
          </a:p>
          <a:p xmlns:a="http://schemas.openxmlformats.org/drawingml/2006/main">
            <a:pPr>
              <a:buChar char="o"/>
            </a:pPr>
            <a:r>
              <a:t>音訊編碼演算法</a:t>
            </a:r>
            <a:r>
              <a:t>（ADPCM、SBC</a:t>
            </a:r>
            <a:r>
              <a:t>）</a:t>
            </a:r>
          </a:p>
          <a:p xmlns:a="http://schemas.openxmlformats.org/drawingml/2006/main">
            <a:pPr>
              <a:buChar char="o"/>
            </a:pPr>
            <a:r>
              <a:t>聲紋辨識演算法</a:t>
            </a:r>
            <a:r>
              <a:t>（Audio</a:t>
            </a:r>
            <a:r>
              <a:t> Fingerprinting</a:t>
            </a:r>
            <a:r>
              <a:t>）</a:t>
            </a:r>
          </a:p>
          <a:p xmlns:a="http://schemas.openxmlformats.org/drawingml/2006/main">
            <a:pPr>
              <a:buChar char="o"/>
            </a:pPr>
            <a:r>
              <a:t>迴授抑制</a:t>
            </a:r>
            <a:r>
              <a:t>（Feedback</a:t>
            </a:r>
            <a:r>
              <a:t> Suppression</a:t>
            </a:r>
            <a:r>
              <a:t>）</a:t>
            </a:r>
          </a:p>
          <a:p xmlns:a="http://schemas.openxmlformats.org/drawingml/2006/main">
            <a:pPr>
              <a:buChar char="o"/>
            </a:pPr>
            <a:r>
              <a:t>音高追蹤演算法</a:t>
            </a:r>
            <a:r>
              <a:t>（pitch</a:t>
            </a:r>
            <a:r>
              <a:t> tracking</a:t>
            </a:r>
            <a:r>
              <a:t>）</a:t>
            </a:r>
          </a:p>
          <a:p xmlns:a="http://schemas.openxmlformats.org/drawingml/2006/main">
            <a:pPr>
              <a:buChar char="o"/>
            </a:pPr>
            <a:r>
              <a:t>音訊變速變調演算法</a:t>
            </a:r>
            <a:r>
              <a:t>（resampling</a:t>
            </a:r>
            <a:r>
              <a:t> + WSOLA</a:t>
            </a:r>
            <a:r>
              <a:t>）</a:t>
            </a:r>
          </a:p>
          <a:p xmlns:a="http://schemas.openxmlformats.org/drawingml/2006/main">
            <a:pPr>
              <a:buChar char="o"/>
            </a:pPr>
            <a:r>
              <a:t>音節分割與節拍偵測演算法</a:t>
            </a:r>
          </a:p>
          <a:p xmlns:a="http://schemas.openxmlformats.org/drawingml/2006/main">
            <a:pPr>
              <a:buChar char="o"/>
            </a:pPr>
            <a:r>
              <a:t>圖像縮放演算法</a:t>
            </a:r>
            <a:r>
              <a:t>（Image</a:t>
            </a:r>
            <a:r>
              <a:t> scaling</a:t>
            </a:r>
            <a:r>
              <a:t>）</a:t>
            </a:r>
          </a:p>
          <a:p xmlns:a="http://schemas.openxmlformats.org/drawingml/2006/main">
            <a:pPr>
              <a:buChar char="o"/>
            </a:pPr>
            <a:r>
              <a:t>圖像壓縮演算法</a:t>
            </a:r>
          </a:p>
        </p:txBody>
      </p:sp>
      <p:pic>
        <p:nvPicPr>
          <p:cNvPr id="4" name="圖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3bb22fe524f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70482" y="562870"/>
            <a:ext cx="1847850" cy="361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5319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1F2F4A4-3B1D-8821-586C-191B72F17E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788769" cy="133994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3600"/>
              <a:t>亞迪電子, 演算法工程師, Jul 2020 ~ Oct 2022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C10941BA-D61E-5B8B-66F2-51A2510F401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250190"/>
            <a:ext cx="7865812" cy="5241928"/>
          </a:xfrm>
        </p:spPr>
        <p:txBody>
          <a:bodyPr xmlns:a="http://schemas.openxmlformats.org/drawingml/2006/main" vert="horz" lIns="91440" tIns="45720" rIns="91440" bIns="45720" anchor="t">
            <a:normAutofit fontScale="88667" lnSpcReduction="20000"/>
          </a:bodyPr>
          <a:lstStyle xmlns:a="http://schemas.openxmlformats.org/drawingml/2006/main"/>
          <a:p xmlns:a="http://schemas.openxmlformats.org/drawingml/2006/main">
            <a:r>
              <a:rPr sz="2400"/>
              <a:t>我參與結合熱像鏡頭與微波雷達的關鍵技術開發，應用於醫療照護、防疫及畜牧等領域。我的主要工作內容包括：</a:t>
            </a:r>
          </a:p>
          <a:p xmlns:a="http://schemas.openxmlformats.org/drawingml/2006/main">
            <a:r>
              <a:rPr sz="2400"/>
              <a:t>生理監測演算法開發：</a:t>
            </a:r>
          </a:p>
          <a:p xmlns:a="http://schemas.openxmlformats.org/drawingml/2006/main">
            <a:pPr>
              <a:buNone/>
            </a:pPr>
            <a:r>
              <a:rPr sz="2000"/>
              <a:t>以 Python 模擬、C++ 實現，透過微波雷達進行非接觸式呼吸心跳監測演算法。</a:t>
            </a:r>
          </a:p>
          <a:p xmlns:a="http://schemas.openxmlformats.org/drawingml/2006/main">
            <a:pPr>
              <a:buNone/>
            </a:pPr>
            <a:r>
              <a:rPr sz="2000"/>
              <a:t>設計微波標記 GUI 工具，以提高便利性與數據視覺化。</a:t>
            </a:r>
          </a:p>
          <a:p xmlns:a="http://schemas.openxmlformats.org/drawingml/2006/main">
            <a:pPr>
              <a:buNone/>
            </a:pPr>
            <a:r>
              <a:rPr sz="2000"/>
              <a:t>使用微波數據訓練模型（Random Forest、CNN、DNN），實現病徵辨識。</a:t>
            </a:r>
          </a:p>
          <a:p xmlns:a="http://schemas.openxmlformats.org/drawingml/2006/main">
            <a:r>
              <a:rPr sz="2400"/>
              <a:t>視覺與姿態辨識：運用 OpenCV 與 YOLO 開發熱影像姿態與跌倒辨識系統。</a:t>
            </a:r>
          </a:p>
          <a:p xmlns:a="http://schemas.openxmlformats.org/drawingml/2006/main">
            <a:pPr>
              <a:buNone/>
            </a:pPr>
            <a:r>
              <a:rPr sz="2000"/>
              <a:t>系統整合與自動化：編寫 Bash 腳本控制遠端 Linux 裝置並收集數據。</a:t>
            </a:r>
          </a:p>
          <a:p xmlns:a="http://schemas.openxmlformats.org/drawingml/2006/main">
            <a:r>
              <a:rPr sz="2400"/>
              <a:t>以 SMAC 步進馬達模擬病人呼吸與心跳運動，為演算法調試提供平台。</a:t>
            </a:r>
          </a:p>
        </p:txBody>
      </p:sp>
      <p:pic>
        <p:nvPicPr>
          <p:cNvPr id="4" name="圖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0c3d2aefb4e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07689" y="475944"/>
            <a:ext cx="819150" cy="409575"/>
          </a:xfrm>
          <a:prstGeom xmlns:a="http://schemas.openxmlformats.org/drawingml/2006/main" prst="rect">
            <a:avLst/>
          </a:prstGeom>
        </p:spPr>
      </p:pic>
      <p:pic>
        <p:nvPicPr>
          <p:cNvPr id="5" name="圖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245880ee148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861" y="2805439"/>
            <a:ext cx="3244132" cy="23990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5567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2750F67-C0D0-C94D-4480-38D4925450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831901" cy="133994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3600"/>
              <a:t>元鼎音訊, 軟體工程師, May 2016 ~ Jun 2020 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D6362F54-AA65-33B5-C208-D8AEA40296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007600" cy="4351338"/>
          </a:xfr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>我參與藍芽耳機與輔聽器的演算法研發，專注聽力健康技術的創新。我利用 Python 進行演算法模擬，並在 CSR8670、AB1539/T 等藍芽晶片上以 C 與 Assembly 實現，包括：</a:t>
            </a:r>
          </a:p>
          <a:p xmlns:a="http://schemas.openxmlformats.org/drawingml/2006/main">
            <a:r>
              <a:rPr sz="2000"/>
              <a:t>語音增強：開發並優化 VAD、LRT、音訊降噪與超低音移頻技術。</a:t>
            </a:r>
          </a:p>
          <a:p xmlns:a="http://schemas.openxmlformats.org/drawingml/2006/main">
            <a:r>
              <a:rPr sz="2000"/>
              <a:t>聽力保護：實現 EQ、DRC 與雙耳拍音生成，提供更安全舒適的聽覺體驗。</a:t>
            </a:r>
          </a:p>
          <a:p xmlns:a="http://schemas.openxmlformats.org/drawingml/2006/main">
            <a:r>
              <a:rPr sz="2000"/>
              <a:t>自然聲隨機生成：利用亂數、白噪聲與水滴物理學生成自然聲音。</a:t>
            </a:r>
          </a:p>
          <a:p xmlns:a="http://schemas.openxmlformats.org/drawingml/2006/main">
            <a:r>
              <a:rPr sz="2000"/>
              <a:t>DSP 演算法優化：浮點數與定點數運算，確保資源受限環境下高效運行。</a:t>
            </a:r>
          </a:p>
          <a:p xmlns:a="http://schemas.openxmlformats.org/drawingml/2006/main">
            <a:r>
              <a:rPr sz="2000"/>
              <a:t>共同申請專利：聽力保護聲音調整裝置、聲音調整方法、遮噪音訊遮蓋干擾音方法。</a:t>
            </a:r>
          </a:p>
        </p:txBody>
      </p:sp>
      <p:pic>
        <p:nvPicPr>
          <p:cNvPr id="4" name="圖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a6473fdc147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04536" y="364593"/>
            <a:ext cx="669986" cy="5977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2548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7D36C6F-26AF-9785-9E33-225735C778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860656" cy="133994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3600"/>
              <a:t>廣達電腦, 射頻工程師, Nov 2014 ~ May 2016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39F84ECA-2307-D6F6-2022-ED5928BDE7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2206" y="1702617"/>
            <a:ext cx="10330698" cy="4606743"/>
          </a:xfr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>我的主要工作內容為協助客戶進行射頻元件開發。 </a:t>
            </a:r>
          </a:p>
          <a:p xmlns:a="http://schemas.openxmlformats.org/drawingml/2006/main">
            <a:r>
              <a:rPr sz="2400"/>
              <a:t>撰寫、維護自動化測試程式，進行儀器控制與數據分析。</a:t>
            </a:r>
          </a:p>
          <a:p xmlns:a="http://schemas.openxmlformats.org/drawingml/2006/main">
            <a:r>
              <a:rPr sz="2400"/>
              <a:t>改善良率、收集數據、並對生產線進行錯誤分析與改善計畫。</a:t>
            </a:r>
          </a:p>
          <a:p xmlns:a="http://schemas.openxmlformats.org/drawingml/2006/main">
            <a:r>
              <a:rPr sz="2400"/>
              <a:t>協助客戶進行測試實驗、試產，提出結果報告。</a:t>
            </a:r>
          </a:p>
        </p:txBody>
      </p:sp>
      <p:pic>
        <p:nvPicPr>
          <p:cNvPr id="4" name="圖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c489abc2f4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08179" y="340617"/>
            <a:ext cx="912963" cy="6946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9641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B27E4E3F-292E-5F9D-B2D0-98ABED6A57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600">
                <a:solidFill>
                  <a:srgbClr val="202122"/>
                </a:solidFill>
              </a:rPr>
              <a:t>中央研究院, 研究助理, Jul 2013 ~ Apr 2014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C8B1A2BE-AC7A-C6BC-7250-204166A14DE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51115" y="1426470"/>
            <a:ext cx="10515600" cy="4351338"/>
          </a:xfr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rPr sz="1800"/>
              <a:t>退伍後，我加入中研院原分所謝佳龍老師的實驗室。</a:t>
            </a:r>
          </a:p>
          <a:p xmlns:a="http://schemas.openxmlformats.org/drawingml/2006/main">
            <a:r>
              <a:rPr sz="1800"/>
              <a:t>設計干涉式散射光學顯微鏡（iSCAT），以建立生物膜奈米粒子影像。</a:t>
            </a:r>
          </a:p>
          <a:p xmlns:a="http://schemas.openxmlformats.org/drawingml/2006/main">
            <a:r>
              <a:rPr sz="1800"/>
              <a:t>以高速攝影機（1k~100k fps），對細胞膜分子上的奈米粒子定位，並追蹤動態軌跡。</a:t>
            </a:r>
          </a:p>
          <a:p xmlns:a="http://schemas.openxmlformats.org/drawingml/2006/main">
            <a:r>
              <a:rPr sz="1800"/>
              <a:t>透過大量動態軌跡數據，分析細胞膜物理特性。</a:t>
            </a:r>
          </a:p>
          <a:p xmlns:a="http://schemas.openxmlformats.org/drawingml/2006/main">
            <a:r>
              <a:rPr sz="1800">
                <a:solidFill>
                  <a:schemeClr val="dk1"/>
                </a:solidFill>
              </a:rPr>
              <a:t>與同事、老師一同將研究成果發表於 Optics Express 論文。</a:t>
            </a:r>
          </a:p>
        </p:txBody>
      </p:sp>
      <p:pic>
        <p:nvPicPr>
          <p:cNvPr id="4" name="圖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497d529e64c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3589" y="411583"/>
            <a:ext cx="788952" cy="819511"/>
          </a:xfrm>
          <a:prstGeom xmlns:a="http://schemas.openxmlformats.org/drawingml/2006/main" prst="rect">
            <a:avLst/>
          </a:prstGeom>
        </p:spPr>
      </p:pic>
      <p:pic>
        <p:nvPicPr>
          <p:cNvPr id="5" name="vaccinia_virus_tracking_Cine41_vide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7e8e5bf0840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2906" y="3740746"/>
            <a:ext cx="2555290" cy="2555290"/>
          </a:xfrm>
          <a:prstGeom xmlns:a="http://schemas.openxmlformats.org/drawingml/2006/main" prst="rect">
            <a:avLst/>
          </a:prstGeom>
        </p:spPr>
      </p:pic>
      <p:pic>
        <p:nvPicPr>
          <p:cNvPr id="6" name="圖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9eaa16aeb4d8c"/>
          <a:srcRect xmlns:a="http://schemas.openxmlformats.org/drawingml/2006/main" l="12258" t="38597" r="29805" b="20935"/>
          <a:stretch xmlns:a="http://schemas.openxmlformats.org/drawingml/2006/main"/>
        </p:blipFill>
        <p:spPr>
          <a:xfrm xmlns:a="http://schemas.openxmlformats.org/drawingml/2006/main">
            <a:off x="6101909" y="3745766"/>
            <a:ext cx="3103691" cy="306822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6252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58CF126-55AD-DF6D-6931-C185D2DA6C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3600"/>
              <a:t>國立台灣大學, 物理研究所, 2009/9 ~ 2012/6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D0CA5C81-8EFA-0E73-1AC8-B74F88DA432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336795"/>
            <a:ext cx="9552317" cy="2913601"/>
          </a:xfr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r>
              <a:rPr sz="1800"/>
              <a:t>我碩士班時加入朱士維老師的生醫光學實驗室。</a:t>
            </a:r>
          </a:p>
          <a:p xmlns:a="http://schemas.openxmlformats.org/drawingml/2006/main">
            <a:r>
              <a:rPr sz="1800"/>
              <a:t>非線性光學現象：非線性晶體、光子晶體光纖、飛秒脈衝雷射光源。</a:t>
            </a:r>
          </a:p>
          <a:p xmlns:a="http://schemas.openxmlformats.org/drawingml/2006/main">
            <a:r>
              <a:rPr sz="1800"/>
              <a:t>顯微鏡技術：超解析度螢光顯微鏡、非線性光學顯微鏡，運用在非侵入式3D生醫影像上。</a:t>
            </a:r>
          </a:p>
          <a:p xmlns:a="http://schemas.openxmlformats.org/drawingml/2006/main">
            <a:r>
              <a:rPr sz="1800"/>
              <a:t>中研院、清大、陽明、逢甲、大阪大學等地多次進行合作計畫。</a:t>
            </a:r>
          </a:p>
          <a:p xmlns:a="http://schemas.openxmlformats.org/drawingml/2006/main">
            <a:r>
              <a:rPr sz="1800"/>
              <a:t>曾擔任光學和物理的大學課程助教，設計日常生活中、關於光的趣味演示實驗。</a:t>
            </a:r>
          </a:p>
        </p:txBody>
      </p:sp>
      <p:sp>
        <p:nvSpPr>
          <p:cNvPr id="5" name="標題 1">
            <a:extLst xmlns:a="http://schemas.openxmlformats.org/drawingml/2006/main">
              <a:ext uri="{FF2B5EF4-FFF2-40B4-BE49-F238E27FC236}">
                <a16:creationId xmlns:a16="http://schemas.microsoft.com/office/drawing/2014/main" id="{E661ADC9-F019-60D5-7879-C7566D37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28" y="3578197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3600" b="1"/>
              <a:t>國立成功大學, 物理學系, 2005/9 ~ 2009/6</a:t>
            </a:r>
          </a:p>
        </p:txBody>
      </p:sp>
      <p:sp>
        <p:nvSpPr>
          <p:cNvPr id="7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A05DB13F-9E2D-9EFB-F8D0-CFAB9FAA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02" y="4391716"/>
            <a:ext cx="9486280" cy="23711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我加入電漿與太空科學中心的電漿探測計畫，開發太空儀器。</a:t>
            </a:r>
          </a:p>
          <a:p xmlns:a="http://schemas.openxmlformats.org/drawingml/2006/main">
            <a:r>
              <a:rPr sz="1800"/>
              <a:t>透過軟體模擬天線與傳輸線的結構、計算探測器的頻譜與傳輸效率。</a:t>
            </a:r>
          </a:p>
          <a:p xmlns:a="http://schemas.openxmlformats.org/drawingml/2006/main">
            <a:r>
              <a:rPr sz="1800"/>
              <a:t>藉由高頻微波對電漿粒子的交互作用，觀察電漿的物理特性。</a:t>
            </a:r>
          </a:p>
          <a:p xmlns:a="http://schemas.openxmlformats.org/drawingml/2006/main">
            <a:r>
              <a:rPr sz="1800"/>
              <a:t>大學期間，最喜愛的課程有：天文學、廣義相對論、近代物理實驗、大腦的功能、世界音樂、越南社會與文化等課程。</a:t>
            </a:r>
          </a:p>
          <a:p xmlns:a="http://schemas.openxmlformats.org/drawingml/2006/main">
            <a:r>
              <a:rPr sz="1800"/>
              <a:t>也積極參加社團活動：系學會、系羽球隊、蘭友會、熱舞社、羽球社。</a:t>
            </a:r>
          </a:p>
        </p:txBody>
      </p:sp>
      <p:pic>
        <p:nvPicPr>
          <p:cNvPr id="8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00ff0119248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01569" y="243966"/>
            <a:ext cx="1107956" cy="1093578"/>
          </a:xfrm>
          <a:prstGeom xmlns:a="http://schemas.openxmlformats.org/drawingml/2006/main" prst="rect">
            <a:avLst/>
          </a:prstGeom>
        </p:spPr>
      </p:pic>
      <p:pic>
        <p:nvPicPr>
          <p:cNvPr id="9" name="圖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4f00ca96143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33996" y="3267616"/>
            <a:ext cx="1199971" cy="132918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11368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9FBB0D34-FC42-696C-D2A6-D4EB8C54A9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2450" y="228600"/>
            <a:ext cx="10668000" cy="781050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 Demo / 專案分組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B3B3B02-397A-B284-75DF-D4856E700A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333500"/>
            <a:ext cx="4810125" cy="4362450"/>
          </a:xfr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只保留 demo_link 目前有的 Demo，並統一使用桌面版截圖。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t/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1. 地圖 / 路線：Mapping Elf、Mapping Star、Railway Elf。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2. 遊戲 / 音訊：Hex Snake、Music Elf。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3. 工作流 / 寫作 / 輸入：Agent Task Manager、Novel Elf、Elven Chewing。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4. 其他小工具：IIR Filter Tool、Web TSP App、Win Rate Calculator。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t/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介紹重點：每個專案為什麼做、解決什麼問題、可以如何 demo。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b01e3a0ca421d"/>
          <a:stretch xmlns:a="http://schemas.openxmlformats.org/drawingml/2006/main"/>
        </p:blipFill>
        <p:spPr>
          <a:xfrm xmlns:a="http://schemas.openxmlformats.org/drawingml/2006/main">
            <a:off x="6953250" y="1285875"/>
            <a:ext cx="3810000" cy="2143125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40bd1d41d8421e"/>
          <a:stretch xmlns:a="http://schemas.openxmlformats.org/drawingml/2006/main"/>
        </p:blipFill>
        <p:spPr>
          <a:xfrm xmlns:a="http://schemas.openxmlformats.org/drawingml/2006/main">
            <a:off x="6191250" y="3774281"/>
            <a:ext cx="2571750" cy="1785938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24d14becc466d"/>
          <a:stretch xmlns:a="http://schemas.openxmlformats.org/drawingml/2006/main"/>
        </p:blipFill>
        <p:spPr>
          <a:xfrm xmlns:a="http://schemas.openxmlformats.org/drawingml/2006/main">
            <a:off x="8953500" y="3912870"/>
            <a:ext cx="2571750" cy="15087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4396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9FBB0D34-FC42-696C-D2A6-D4EB8C54A9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2450" y="228600"/>
            <a:ext cx="10668000" cy="781050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>
                <a:solidFill>
                  <a:srgbClr val="111111"/>
                </a:solidFill>
                <a:latin typeface="Arial"/>
                <a:ea typeface="Arial"/>
                <a:cs typeface="Arial"/>
              </a:rPr>
              <a:t>Mapping Elf / Mapping Star / Railway Elf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B3B3B02-397A-B284-75DF-D4856E700A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333500"/>
            <a:ext cx="4810125" cy="4362450"/>
          </a:xfr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Mapping Elf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目的：把 GPX/KML 路線規劃、海拔剖面與天氣時間軸放在同一個戶外路線工具。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t/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Mapping Star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目的：把 POI 搜尋與幾何排列轉成可互動的五/六芒星路線視覺化。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t/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Railway Elf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目的：用地圖方式檢視鐵道路線與站點資料，做成可分享的輕量 Demo。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dbbd9b4494ddf"/>
          <a:stretch xmlns:a="http://schemas.openxmlformats.org/drawingml/2006/main"/>
        </p:blipFill>
        <p:spPr>
          <a:xfrm xmlns:a="http://schemas.openxmlformats.org/drawingml/2006/main">
            <a:off x="7143750" y="1285875"/>
            <a:ext cx="3429000" cy="2143125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54f548a1134e76"/>
          <a:stretch xmlns:a="http://schemas.openxmlformats.org/drawingml/2006/main"/>
        </p:blipFill>
        <p:spPr>
          <a:xfrm xmlns:a="http://schemas.openxmlformats.org/drawingml/2006/main">
            <a:off x="6191250" y="3943945"/>
            <a:ext cx="2571750" cy="1446609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979a15e904f2e"/>
          <a:stretch xmlns:a="http://schemas.openxmlformats.org/drawingml/2006/main"/>
        </p:blipFill>
        <p:spPr>
          <a:xfrm xmlns:a="http://schemas.openxmlformats.org/drawingml/2006/main">
            <a:off x="8953500" y="3845719"/>
            <a:ext cx="2571750" cy="16430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4396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9FBB0D34-FC42-696C-D2A6-D4EB8C54A9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2450" y="228600"/>
            <a:ext cx="10668000" cy="781050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>
                <a:solidFill>
                  <a:srgbClr val="111111"/>
                </a:solidFill>
                <a:latin typeface="Arial"/>
                <a:ea typeface="Arial"/>
                <a:cs typeface="Arial"/>
              </a:rPr>
              <a:t>Hex Snake / Music Elf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B3B3B02-397A-B284-75DF-D4856E700A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333500"/>
            <a:ext cx="4810125" cy="4362450"/>
          </a:xfr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Hex Snake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目的：用六角格蛇遊戲驗證 AI 對弈、角色技能、重播與平衡模擬。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t/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Music Elf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目的：把歌聲或旋律分析成 MIDI / MusicXML，讓音高、節奏與和弦推斷可視化。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t/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共同重點：把演算法做成可操作的互動 Demo，面試時能直接展示輸入與結果。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83edfa26f4e6a"/>
          <a:stretch xmlns:a="http://schemas.openxmlformats.org/drawingml/2006/main"/>
        </p:blipFill>
        <p:spPr>
          <a:xfrm xmlns:a="http://schemas.openxmlformats.org/drawingml/2006/main">
            <a:off x="7017652" y="1381125"/>
            <a:ext cx="3490696" cy="2047875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1d60367a041da"/>
          <a:stretch xmlns:a="http://schemas.openxmlformats.org/drawingml/2006/main"/>
        </p:blipFill>
        <p:spPr>
          <a:xfrm xmlns:a="http://schemas.openxmlformats.org/drawingml/2006/main">
            <a:off x="7288530" y="3714750"/>
            <a:ext cx="2948940" cy="2047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4396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9FBB0D34-FC42-696C-D2A6-D4EB8C54A9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2450" y="228600"/>
            <a:ext cx="10668000" cy="781050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 Task Manager / Novel Elf / Elven Chewing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B3B3B02-397A-B284-75DF-D4856E700A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333500"/>
            <a:ext cx="4810125" cy="4362450"/>
          </a:xfr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 Task Manager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目的：集中管理多個 dev server、log 與 health check，讓 Agent Coding 驗證流程更順。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t/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Novel Elf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目的：整理長篇小說世界觀、角色、章節與寫作脈絡，讓 LLM 協作更可控。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t/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Elven Chewing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目的：用 WebAssembly Demo 驗證注音輸入核心，再銜接 Windows TSF 輸入法。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0048368184a4b"/>
          <a:stretch xmlns:a="http://schemas.openxmlformats.org/drawingml/2006/main"/>
        </p:blipFill>
        <p:spPr>
          <a:xfrm xmlns:a="http://schemas.openxmlformats.org/drawingml/2006/main">
            <a:off x="7315200" y="1285875"/>
            <a:ext cx="3086100" cy="2143125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0d8a228fb4edc"/>
          <a:stretch xmlns:a="http://schemas.openxmlformats.org/drawingml/2006/main"/>
        </p:blipFill>
        <p:spPr>
          <a:xfrm xmlns:a="http://schemas.openxmlformats.org/drawingml/2006/main">
            <a:off x="6191250" y="3774281"/>
            <a:ext cx="2571750" cy="1785938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b32e92a9a48e4"/>
          <a:stretch xmlns:a="http://schemas.openxmlformats.org/drawingml/2006/main"/>
        </p:blipFill>
        <p:spPr>
          <a:xfrm xmlns:a="http://schemas.openxmlformats.org/drawingml/2006/main">
            <a:off x="8953500" y="3774281"/>
            <a:ext cx="2571750" cy="17859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4396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9FBB0D34-FC42-696C-D2A6-D4EB8C54A9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2450" y="228600"/>
            <a:ext cx="10668000" cy="781050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2850">
                <a:solidFill>
                  <a:srgbClr val="111111"/>
                </a:solidFill>
                <a:latin typeface="Arial"/>
                <a:ea typeface="Arial"/>
                <a:cs typeface="Arial"/>
              </a:rPr>
              <a:t>Other Tools / 其他小工具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B3B3B02-397A-B284-75DF-D4856E700A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333500"/>
            <a:ext cx="4810125" cy="4362450"/>
          </a:xfrm>
        </p:spPr>
        <p:txBody>
          <a:bodyPr xmlns:a="http://schemas.openxmlformats.org/drawingml/2006/main" vert="horz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IIR Filter Tool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目的：互動調整 DSP 濾波器係數，立即檢查頻率響應。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t/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Web TSP App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目的：用視覺化方式展示旅行推銷員路徑最佳化。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t/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Win Rate Calculator</a:t>
            </a:r>
          </a:p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1350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目的：把勝率、機率與情境假設做成可快速試算的網頁工具。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e5a54c7084ae3"/>
          <a:stretch xmlns:a="http://schemas.openxmlformats.org/drawingml/2006/main"/>
        </p:blipFill>
        <p:spPr>
          <a:xfrm xmlns:a="http://schemas.openxmlformats.org/drawingml/2006/main">
            <a:off x="7143750" y="1285875"/>
            <a:ext cx="3429000" cy="2143125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fa59ff8a34d5b"/>
          <a:stretch xmlns:a="http://schemas.openxmlformats.org/drawingml/2006/main"/>
        </p:blipFill>
        <p:spPr>
          <a:xfrm xmlns:a="http://schemas.openxmlformats.org/drawingml/2006/main">
            <a:off x="6191250" y="3774281"/>
            <a:ext cx="2571750" cy="1785938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d19cbdb9648af"/>
          <a:stretch xmlns:a="http://schemas.openxmlformats.org/drawingml/2006/main"/>
        </p:blipFill>
        <p:spPr>
          <a:xfrm xmlns:a="http://schemas.openxmlformats.org/drawingml/2006/main">
            <a:off x="8953500" y="3858220"/>
            <a:ext cx="2571750" cy="16180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43965"/>
      </p:ext>
    </p:extLst>
  </p:cSld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2026-05-24T18:59:31.7150000Z</dcterms:created>
  <dcterms:modified xsi:type="dcterms:W3CDTF">2026-05-24T18:59:31.7150000Z</dcterms:modified>
</coreProperties>
</file>