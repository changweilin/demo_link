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717911b3a64050" /><Relationship Type="http://schemas.openxmlformats.org/officeDocument/2006/relationships/extended-properties" Target="/docProps/app.xml" Id="R30a20b4822144302" /><Relationship Type="http://schemas.openxmlformats.org/officeDocument/2006/relationships/officeDocument" Target="/ppt/presentation.xml" Id="Rb8fc1344a297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c2700f7404f6b"/>
  </p:sldMasterIdLst>
  <p:notesMasterIdLst>
    <p:notesMasterId xmlns:r="http://schemas.openxmlformats.org/officeDocument/2006/relationships" r:id="R88b3c6cc23b24406"/>
  </p:notesMasterIdLst>
  <p:sldIdLst>
    <p:sldId xmlns:r="http://schemas.openxmlformats.org/officeDocument/2006/relationships" id="256" r:id="R062edfafdb6c4322"/>
    <p:sldId xmlns:r="http://schemas.openxmlformats.org/officeDocument/2006/relationships" id="257" r:id="Rec3c1165c432468c"/>
    <p:sldId xmlns:r="http://schemas.openxmlformats.org/officeDocument/2006/relationships" id="258" r:id="R9d295a2492874b72"/>
    <p:sldId xmlns:r="http://schemas.openxmlformats.org/officeDocument/2006/relationships" id="259" r:id="R9c37781c16494df1"/>
    <p:sldId xmlns:r="http://schemas.openxmlformats.org/officeDocument/2006/relationships" id="260" r:id="R7cf4150246a64c44"/>
    <p:sldId xmlns:r="http://schemas.openxmlformats.org/officeDocument/2006/relationships" id="261" r:id="Rb74899d7f64540c2"/>
    <p:sldId xmlns:r="http://schemas.openxmlformats.org/officeDocument/2006/relationships" id="262" r:id="R13d68674100d4bf0"/>
    <p:sldId xmlns:r="http://schemas.openxmlformats.org/officeDocument/2006/relationships" id="263" r:id="R22352968e0614d74"/>
    <p:sldId xmlns:r="http://schemas.openxmlformats.org/officeDocument/2006/relationships" id="264" r:id="R110848a1e6d14737"/>
    <p:sldId xmlns:r="http://schemas.openxmlformats.org/officeDocument/2006/relationships" id="265" r:id="R5c42d428de9a433b"/>
    <p:sldId xmlns:r="http://schemas.openxmlformats.org/officeDocument/2006/relationships" id="266" r:id="R401480fb0f7147d8"/>
    <p:sldId xmlns:r="http://schemas.openxmlformats.org/officeDocument/2006/relationships" id="267" r:id="Rf8d22cae6dd84e9d"/>
    <p:sldId xmlns:r="http://schemas.openxmlformats.org/officeDocument/2006/relationships" id="268" r:id="R3d71015dff9c437d"/>
    <p:sldId xmlns:r="http://schemas.openxmlformats.org/officeDocument/2006/relationships" id="269" r:id="R652630e59f1e48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c2700f7404f6b" /><Relationship Type="http://schemas.openxmlformats.org/officeDocument/2006/relationships/theme" Target="/ppt/theme/theme1.xml" Id="Rd0ffdc08625a4bfd" /><Relationship Type="http://schemas.openxmlformats.org/officeDocument/2006/relationships/notesMaster" Target="/ppt/notesMasters/notesMaster1.xml" Id="R88b3c6cc23b24406" /><Relationship Type="http://schemas.openxmlformats.org/officeDocument/2006/relationships/presProps" Target="/ppt/presProps.xml" Id="R5c72a63182864ca0" /><Relationship Type="http://schemas.openxmlformats.org/officeDocument/2006/relationships/viewProps" Target="/ppt/viewProps.xml" Id="R1a665751852a4422" /><Relationship Type="http://schemas.openxmlformats.org/officeDocument/2006/relationships/tableStyles" Target="/ppt/tableStyles.xml" Id="R086a8b6653fc4c75" /><Relationship Type="http://schemas.openxmlformats.org/officeDocument/2006/relationships/slide" Target="/ppt/slides/slide1.xml" Id="R062edfafdb6c4322" /><Relationship Type="http://schemas.openxmlformats.org/officeDocument/2006/relationships/slide" Target="/ppt/slides/slide2.xml" Id="Rec3c1165c432468c" /><Relationship Type="http://schemas.openxmlformats.org/officeDocument/2006/relationships/slide" Target="/ppt/slides/slide3.xml" Id="R9d295a2492874b72" /><Relationship Type="http://schemas.openxmlformats.org/officeDocument/2006/relationships/slide" Target="/ppt/slides/slide4.xml" Id="R9c37781c16494df1" /><Relationship Type="http://schemas.openxmlformats.org/officeDocument/2006/relationships/slide" Target="/ppt/slides/slide5.xml" Id="R7cf4150246a64c44" /><Relationship Type="http://schemas.openxmlformats.org/officeDocument/2006/relationships/slide" Target="/ppt/slides/slide6.xml" Id="Rb74899d7f64540c2" /><Relationship Type="http://schemas.openxmlformats.org/officeDocument/2006/relationships/slide" Target="/ppt/slides/slide7.xml" Id="R13d68674100d4bf0" /><Relationship Type="http://schemas.openxmlformats.org/officeDocument/2006/relationships/slide" Target="/ppt/slides/slide8.xml" Id="R22352968e0614d74" /><Relationship Type="http://schemas.openxmlformats.org/officeDocument/2006/relationships/slide" Target="/ppt/slides/slide9.xml" Id="R110848a1e6d14737" /><Relationship Type="http://schemas.openxmlformats.org/officeDocument/2006/relationships/slide" Target="/ppt/slides/slide10.xml" Id="R5c42d428de9a433b" /><Relationship Type="http://schemas.openxmlformats.org/officeDocument/2006/relationships/slide" Target="/ppt/slides/slide11.xml" Id="R401480fb0f7147d8" /><Relationship Type="http://schemas.openxmlformats.org/officeDocument/2006/relationships/slide" Target="/ppt/slides/slide12.xml" Id="Rf8d22cae6dd84e9d" /><Relationship Type="http://schemas.openxmlformats.org/officeDocument/2006/relationships/slide" Target="/ppt/slides/slide13.xml" Id="R3d71015dff9c437d" /><Relationship Type="http://schemas.openxmlformats.org/officeDocument/2006/relationships/slide" Target="/ppt/slides/slide14.xml" Id="R652630e59f1e48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86613204514b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3dcbc313554ce0" /><Relationship Type="http://schemas.openxmlformats.org/officeDocument/2006/relationships/notesMaster" Target="/ppt/notesMasters/notesMaster1.xml" Id="R19e3ec0ab294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83d832fbac490b" /><Relationship Type="http://schemas.openxmlformats.org/officeDocument/2006/relationships/notesMaster" Target="/ppt/notesMasters/notesMaster1.xml" Id="R2015682433c944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3c01d728504e11" /><Relationship Type="http://schemas.openxmlformats.org/officeDocument/2006/relationships/notesMaster" Target="/ppt/notesMasters/notesMaster1.xml" Id="Raf4862a4e6df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adfaa0c1e34335" /><Relationship Type="http://schemas.openxmlformats.org/officeDocument/2006/relationships/notesMaster" Target="/ppt/notesMasters/notesMaster1.xml" Id="Rdc6b3035339347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c405da8b0b4ff7" /><Relationship Type="http://schemas.openxmlformats.org/officeDocument/2006/relationships/notesMaster" Target="/ppt/notesMasters/notesMaster1.xml" Id="R6b41fff2e58745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5082849b441d6" /><Relationship Type="http://schemas.openxmlformats.org/officeDocument/2006/relationships/notesMaster" Target="/ppt/notesMasters/notesMaster1.xml" Id="Refdb8f3d8c85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5fd704fa14954" /><Relationship Type="http://schemas.openxmlformats.org/officeDocument/2006/relationships/notesMaster" Target="/ppt/notesMasters/notesMaster1.xml" Id="R9dcc6d5f49b64c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50073311204e25" /><Relationship Type="http://schemas.openxmlformats.org/officeDocument/2006/relationships/notesMaster" Target="/ppt/notesMasters/notesMaster1.xml" Id="R3b67a43b24d84d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a758402b144369" /><Relationship Type="http://schemas.openxmlformats.org/officeDocument/2006/relationships/notesMaster" Target="/ppt/notesMasters/notesMaster1.xml" Id="R189545c34ea646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b6a5595cc04eed" /><Relationship Type="http://schemas.openxmlformats.org/officeDocument/2006/relationships/notesMaster" Target="/ppt/notesMasters/notesMaster1.xml" Id="R64e784b9265a48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3f0b4e74b340c0" /><Relationship Type="http://schemas.openxmlformats.org/officeDocument/2006/relationships/notesMaster" Target="/ppt/notesMasters/notesMaster1.xml" Id="R12558caf33914c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1d06295d8c41ff" /><Relationship Type="http://schemas.openxmlformats.org/officeDocument/2006/relationships/notesMaster" Target="/ppt/notesMasters/notesMaster1.xml" Id="R919baf3e572343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a37122c1c14f0f" /><Relationship Type="http://schemas.openxmlformats.org/officeDocument/2006/relationships/notesMaster" Target="/ppt/notesMasters/notesMaster1.xml" Id="R4007691d9c3a41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f0d2619fab4560" /><Relationship Type="http://schemas.openxmlformats.org/officeDocument/2006/relationships/notesMaster" Target="/ppt/notesMasters/notesMaster1.xml" Id="Rc3599faf29bd47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e6981d76144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7225922ee41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3e584b0094c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31bf2210c44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795d1d9d943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56b7beba140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4a7e40f7a4c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7b5ab724f488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f0662673c449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0e707ea844f5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03ba09ca64c0d" /></Relationships>
</file>

<file path=ppt/slideLayouts/slideLayout2.xml><?xml version="1.0" encoding="utf-8"?>
<p:sldLayout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3586D-072E-4DC7-83DC-98A786C0E21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CD597B-5F96-4C30-8A2E-D1B998B09B8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7C8A9C2-748F-4535-8D51-CEA4AE5EB72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549C84A-45D2-4268-ADB5-C0E55B977BF9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D2FC017-78AC-4E97-988F-39F8668AF489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706E52-2A6D-46EB-BAA1-D5CBFEFA34F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46ECA29-6EE1-4AEC-A145-3BF19C761B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364A44F-BDEC-4BAC-B3A9-5F499A64AB2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A3A8C6B-FD50-4139-9A75-4C5348ED46A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E0AAA3-A680-4396-89C1-58D34C1D740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5E58629-518A-4D4F-9261-DB424E941B5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vertTitleAndTx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90D0A3C-E69F-437A-8439-98B166142DA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6BB4E-14B5-44BC-8A34-1F332AF318C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5300D2-B8EC-4760-976F-C326CE91A5F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2B5A21-A97E-490C-80BB-FB6ABA7F7D6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8FC2E7-2287-434C-8626-0E71FA98682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2F25A-811D-4018-8F0C-3983489BBE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0C6EC0-47F3-42A1-BF0B-06B0B994A5D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632FF3-35A1-474A-B96D-383736E083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854579-ABF5-48E2-92F2-2F9E670A15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A989EA-74F6-4159-AFE6-53F752D34E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objTx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9251B6-2384-4F0C-B6DD-D1EEC10962F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3FDD42-36D8-443A-A54D-AF64B562519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82BA511-3BF7-43FA-A7D3-6F1D88ED1FC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2F04E-AA9E-416F-8F20-C797B44E5DC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5331238-C171-4F29-A97E-896BAD6EC0F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0B857BA-B9BF-4D7B-8910-113E41357D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DDAB47-6B97-46C3-B446-E7415271EEB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9937034-35F9-4912-A841-0F4BDCA9C48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3421285-6023-48F8-95F7-E296845B459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FBF6F75-AE15-4E31-A4C8-581952940D7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CC9F36-A670-439B-8338-B2785B97408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A14880-6469-47BB-8CCB-6C0FB778C589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8CF8BB9-6487-45EB-8478-89CB5B11402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1710336-7891-482D-9ED9-44657D09A0E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7FD48B-66BD-441C-B493-15F879C6DA6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62EA2F-E99D-4B86-99D4-77F47488958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E2EB2D-278A-4917-A109-56BE07360A1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FB8948-480C-4E0C-BD0F-25040F0655C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F708F2-FD9E-4422-804D-CBB6491AA66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C9D907-C1CF-4BB6-B1AE-195090E1744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E22C77-27C5-4D64-B5FF-01FAB79A5DF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Obj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01AD01-501A-457B-B7B2-A2F9DD5C8C2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6323E7-88A8-48B4-923B-EE6894650CF2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1C2796-3706-4878-94AB-516BC9EF6FB6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842042-B92D-41DB-9CE9-BD5A2D368C7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D35810-B116-48EF-8C5E-09C750495FB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A4CABC-4CD1-49EC-8BE4-03D6711DA41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D190CE-C811-493B-8E98-37926B85394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E636E6-4B6D-49D9-9C92-027E426AE362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3BEDA4-A2EC-4E1E-8C6D-5577310CDE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69B7FB-E2CB-4642-9430-473258CE21C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ADC9A5-C600-4221-87B4-6F9AF13BAE3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3576B8-1E8D-4667-88D2-BEA8E136621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3584CF-38C8-457E-9871-B041BCB51824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B4470D-2329-4CA5-AB16-3927FAC19F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E88763-9037-49CF-B587-C7CF399CE76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A43CE2-47FE-473D-B265-AE2C0A88083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e88649df684bd7" /><Relationship Type="http://schemas.openxmlformats.org/officeDocument/2006/relationships/slideLayout" Target="/ppt/slideLayouts/slideLayout2.xml" Id="R360df172c64c4169" /><Relationship Type="http://schemas.openxmlformats.org/officeDocument/2006/relationships/slideLayout" Target="/ppt/slideLayouts/slideLayout3.xml" Id="Rdc4ff06ae7924d55" /><Relationship Type="http://schemas.openxmlformats.org/officeDocument/2006/relationships/slideLayout" Target="/ppt/slideLayouts/slideLayout4.xml" Id="Rc592a7ef01494bb1" /><Relationship Type="http://schemas.openxmlformats.org/officeDocument/2006/relationships/slideLayout" Target="/ppt/slideLayouts/slideLayout5.xml" Id="Rdf8fb2fd2a6f4838" /><Relationship Type="http://schemas.openxmlformats.org/officeDocument/2006/relationships/slideLayout" Target="/ppt/slideLayouts/slideLayout6.xml" Id="R6e237b4835564b86" /><Relationship Type="http://schemas.openxmlformats.org/officeDocument/2006/relationships/slideLayout" Target="/ppt/slideLayouts/slideLayout7.xml" Id="R6fe38ad3398e4b26" /><Relationship Type="http://schemas.openxmlformats.org/officeDocument/2006/relationships/slideLayout" Target="/ppt/slideLayouts/slideLayout8.xml" Id="Rfbb3586f77644638" /><Relationship Type="http://schemas.openxmlformats.org/officeDocument/2006/relationships/slideLayout" Target="/ppt/slideLayouts/slideLayout9.xml" Id="R2c38d3865d614efc" /><Relationship Type="http://schemas.openxmlformats.org/officeDocument/2006/relationships/slideLayout" Target="/ppt/slideLayouts/slideLayout10.xml" Id="Ra6f36e9bffaa4e9e" /><Relationship Type="http://schemas.openxmlformats.org/officeDocument/2006/relationships/slideLayout" Target="/ppt/slideLayouts/slideLayout11.xml" Id="Rd120d098766f44b0" /><Relationship Type="http://schemas.openxmlformats.org/officeDocument/2006/relationships/slideLayout" Target="/ppt/slideLayouts/slideLayout12.xml" Id="R7f34030fe7fd46f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D970BA-64A1-48E1-83EB-F8CA4A2A47B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BEE5D9-8182-42D6-B453-927DEEBEC2A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227B20-6B9A-4712-BA33-9DC1544396B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DF40FE-F83F-403A-B6DA-0C48362CEAF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86A4FC-7263-4DFC-8884-8CE75EDDFF0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0df172c64c4169"/>
    <p:sldLayoutId xmlns:r="http://schemas.openxmlformats.org/officeDocument/2006/relationships" id="2147483650" r:id="Rdc4ff06ae7924d55"/>
    <p:sldLayoutId xmlns:r="http://schemas.openxmlformats.org/officeDocument/2006/relationships" id="2147483651" r:id="Rc592a7ef01494bb1"/>
    <p:sldLayoutId xmlns:r="http://schemas.openxmlformats.org/officeDocument/2006/relationships" id="2147483652" r:id="Rdf8fb2fd2a6f4838"/>
    <p:sldLayoutId xmlns:r="http://schemas.openxmlformats.org/officeDocument/2006/relationships" id="2147483653" r:id="R6e237b4835564b86"/>
    <p:sldLayoutId xmlns:r="http://schemas.openxmlformats.org/officeDocument/2006/relationships" id="2147483654" r:id="R6fe38ad3398e4b26"/>
    <p:sldLayoutId xmlns:r="http://schemas.openxmlformats.org/officeDocument/2006/relationships" id="2147483655" r:id="Rfbb3586f77644638"/>
    <p:sldLayoutId xmlns:r="http://schemas.openxmlformats.org/officeDocument/2006/relationships" id="2147483656" r:id="R2c38d3865d614efc"/>
    <p:sldLayoutId xmlns:r="http://schemas.openxmlformats.org/officeDocument/2006/relationships" id="2147483657" r:id="Ra6f36e9bffaa4e9e"/>
    <p:sldLayoutId xmlns:r="http://schemas.openxmlformats.org/officeDocument/2006/relationships" id="2147483658" r:id="Rd120d098766f44b0"/>
    <p:sldLayoutId xmlns:r="http://schemas.openxmlformats.org/officeDocument/2006/relationships" id="2147483659" r:id="R7f34030fe7fd46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e503fee10ea430a" /><Relationship Type="http://schemas.openxmlformats.org/officeDocument/2006/relationships/notesSlide" Target="/ppt/notesSlides/notesSlide1.xml" Id="R92f4c3ba56994e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0fbcbf8d43f4610" /><Relationship Type="http://schemas.openxmlformats.org/officeDocument/2006/relationships/notesSlide" Target="/ppt/notesSlides/notesSlide2.xml" Id="R997474c39f8e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16141b5284a44e3" /><Relationship Type="http://schemas.openxmlformats.org/officeDocument/2006/relationships/notesSlide" Target="/ppt/notesSlides/notesSlide3.xml" Id="Rabc2f1d7fbd7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05e5fd90faa428b" /><Relationship Type="http://schemas.openxmlformats.org/officeDocument/2006/relationships/image" Target="/ppt/media/image.png" Id="Re2ab624092a34800" /><Relationship Type="http://schemas.openxmlformats.org/officeDocument/2006/relationships/image" Target="/ppt/media/image2.png" Id="R0bb7860d87f8402d" /><Relationship Type="http://schemas.openxmlformats.org/officeDocument/2006/relationships/notesSlide" Target="/ppt/notesSlides/notesSlide4.xml" Id="Rce642fd1603a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e04953e758349ad" /><Relationship Type="http://schemas.openxmlformats.org/officeDocument/2006/relationships/image" Target="/ppt/media/image3.png" Id="R082a9964132f4832" /><Relationship Type="http://schemas.openxmlformats.org/officeDocument/2006/relationships/notesSlide" Target="/ppt/notesSlides/notesSlide5.xml" Id="R73848cba23f241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4619ddb05a44499" /><Relationship Type="http://schemas.openxmlformats.org/officeDocument/2006/relationships/image" Target="/ppt/media/image4.png" Id="Rb14463e714a940e3" /><Relationship Type="http://schemas.openxmlformats.org/officeDocument/2006/relationships/image" Target="/ppt/media/image5.png" Id="Ree355108c7f0444d" /><Relationship Type="http://schemas.openxmlformats.org/officeDocument/2006/relationships/image" Target="/ppt/media/image6.png" Id="Rd1106fcf47bf467d" /><Relationship Type="http://schemas.openxmlformats.org/officeDocument/2006/relationships/image" Target="/ppt/media/image7.png" Id="R3ae344f1a7b64f9e" /><Relationship Type="http://schemas.openxmlformats.org/officeDocument/2006/relationships/image" Target="/ppt/media/image8.png" Id="R7da494bd5e4d425d" /><Relationship Type="http://schemas.openxmlformats.org/officeDocument/2006/relationships/image" Target="/ppt/media/image9.png" Id="Ra5c9105a76b546b8" /><Relationship Type="http://schemas.openxmlformats.org/officeDocument/2006/relationships/image" Target="/ppt/media/image10.png" Id="R35a82796352a4253" /><Relationship Type="http://schemas.openxmlformats.org/officeDocument/2006/relationships/image" Target="/ppt/media/image11.png" Id="R5ef6763c4e0b47ab" /><Relationship Type="http://schemas.openxmlformats.org/officeDocument/2006/relationships/image" Target="/ppt/media/image12.png" Id="R9f77ade562e24692" /><Relationship Type="http://schemas.openxmlformats.org/officeDocument/2006/relationships/image" Target="/ppt/media/image13.png" Id="Ra7838d3177504bf9" /><Relationship Type="http://schemas.openxmlformats.org/officeDocument/2006/relationships/notesSlide" Target="/ppt/notesSlides/notesSlide6.xml" Id="R3bc0b4822ea942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a0c225ce2354021" /><Relationship Type="http://schemas.openxmlformats.org/officeDocument/2006/relationships/image" Target="/ppt/media/image14.png" Id="R0e9df0773d2b42ed" /><Relationship Type="http://schemas.openxmlformats.org/officeDocument/2006/relationships/image" Target="/ppt/media/image15.png" Id="R3403a288e0864aa5" /><Relationship Type="http://schemas.openxmlformats.org/officeDocument/2006/relationships/notesSlide" Target="/ppt/notesSlides/notesSlide7.xml" Id="R1e6d04895c8a4f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97a8c9774f546ab" /><Relationship Type="http://schemas.openxmlformats.org/officeDocument/2006/relationships/image" Target="/ppt/media/image16.png" Id="R418771e6aa404001" /><Relationship Type="http://schemas.openxmlformats.org/officeDocument/2006/relationships/notesSlide" Target="/ppt/notesSlides/notesSlide8.xml" Id="R216d550f1cf847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d17f6b6cc004bfe" /><Relationship Type="http://schemas.openxmlformats.org/officeDocument/2006/relationships/image" Target="/ppt/media/image17.png" Id="R6a9d2c191b82415f" /><Relationship Type="http://schemas.openxmlformats.org/officeDocument/2006/relationships/image" Target="/ppt/media/image.jpeg" Id="Rc27d81defa1c4420" /><Relationship Type="http://schemas.openxmlformats.org/officeDocument/2006/relationships/notesSlide" Target="/ppt/notesSlides/notesSlide9.xml" Id="Rbe8d89f3148449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7cdfef52a234ee8" /><Relationship Type="http://schemas.openxmlformats.org/officeDocument/2006/relationships/image" Target="/ppt/media/image18.png" Id="R77352ae0e60943c5" /><Relationship Type="http://schemas.openxmlformats.org/officeDocument/2006/relationships/image" Target="/ppt/media/image19.png" Id="R645c7feab0134a87" /><Relationship Type="http://schemas.openxmlformats.org/officeDocument/2006/relationships/image" Target="/ppt/media/image20.png" Id="Rb664baf08ba249e4" /><Relationship Type="http://schemas.openxmlformats.org/officeDocument/2006/relationships/image" Target="/ppt/media/image21.png" Id="Re7ae925b233b440e" /><Relationship Type="http://schemas.openxmlformats.org/officeDocument/2006/relationships/image" Target="/ppt/media/image22.png" Id="Rdfafb9c7903f4eae" /><Relationship Type="http://schemas.openxmlformats.org/officeDocument/2006/relationships/notesSlide" Target="/ppt/notesSlides/notesSlide10.xml" Id="R3ad243966d534d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1f60c39603e422c" /><Relationship Type="http://schemas.openxmlformats.org/officeDocument/2006/relationships/image" Target="/ppt/media/image23.png" Id="Rcfe2e08dbd684c6b" /><Relationship Type="http://schemas.openxmlformats.org/officeDocument/2006/relationships/image" Target="/ppt/media/image24.png" Id="Rc2d7b148060744b8" /><Relationship Type="http://schemas.openxmlformats.org/officeDocument/2006/relationships/image" Target="/ppt/media/image25.png" Id="R43909608b3294577" /><Relationship Type="http://schemas.openxmlformats.org/officeDocument/2006/relationships/notesSlide" Target="/ppt/notesSlides/notesSlide11.xml" Id="R932f63b27e1543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b5d9547850f4d1f" /><Relationship Type="http://schemas.openxmlformats.org/officeDocument/2006/relationships/image" Target="/ppt/media/image26.png" Id="Rd6a03f1a37894c15" /><Relationship Type="http://schemas.openxmlformats.org/officeDocument/2006/relationships/image" Target="/ppt/media/image27.png" Id="R8585c43ce0ba441c" /><Relationship Type="http://schemas.openxmlformats.org/officeDocument/2006/relationships/image" Target="/ppt/media/image28.png" Id="R934b5154a4094277" /><Relationship Type="http://schemas.openxmlformats.org/officeDocument/2006/relationships/notesSlide" Target="/ppt/notesSlides/notesSlide12.xml" Id="Rfef1cdbdfca243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ba2d605754e48bc" /><Relationship Type="http://schemas.openxmlformats.org/officeDocument/2006/relationships/image" Target="/ppt/media/image29.png" Id="R6d2aee603fdc4c55" /><Relationship Type="http://schemas.openxmlformats.org/officeDocument/2006/relationships/image" Target="/ppt/media/image30.png" Id="R69a66f4126464ed9" /><Relationship Type="http://schemas.openxmlformats.org/officeDocument/2006/relationships/notesSlide" Target="/ppt/notesSlides/notesSlide13.xml" Id="Rf7d687d33d9f45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afcce0548b04ff9" /><Relationship Type="http://schemas.openxmlformats.org/officeDocument/2006/relationships/image" Target="/ppt/media/image31.png" Id="Rb9a7a754fcc142c1" /><Relationship Type="http://schemas.openxmlformats.org/officeDocument/2006/relationships/image" Target="/ppt/media/image32.png" Id="Rae07740b8e2a480c" /><Relationship Type="http://schemas.openxmlformats.org/officeDocument/2006/relationships/image" Target="/ppt/media/image33.png" Id="Rb8905eb2535b42c9" /><Relationship Type="http://schemas.openxmlformats.org/officeDocument/2006/relationships/notesSlide" Target="/ppt/notesSlides/notesSlide14.xml" Id="Ra507fcf1880341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927A720-2F0F-7CF7-72C2-7618B3A28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15085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張維麟, Chang Wei Lin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1F59B5AA-7DA1-36E6-EEAF-CA2C6D18E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999290"/>
            <a:ext cx="9144000" cy="1249750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sz="1800" b="0" i="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宜蘭羅東人，物理背景的演算法工程師</a:t>
            </a:r>
          </a:p>
          <a:p xmlns:a="http://schemas.openxmlformats.org/drawingml/2006/main">
            <a:r>
              <a:rPr sz="1800" b="0" i="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擅長 C/C++/Python，熱愛登山、重訓與桌遊</a:t>
            </a:r>
          </a:p>
          <a:p xmlns:a="http://schemas.openxmlformats.org/drawingml/2006/main">
            <a:r>
              <a:rPr sz="180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關注 AI/LLM，善用 AI 工具學習與開發</a:t>
            </a:r>
          </a:p>
        </p:txBody>
      </p:sp>
      <p:sp>
        <p:nvSpPr>
          <p:cNvPr id="4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D48276D-9030-3048-7837-A63D88B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716" y="4524975"/>
            <a:ext cx="8598568" cy="1514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>
                <a:solidFill>
                  <a:srgbClr val="7E7E7E"/>
                </a:solidFill>
                <a:latin typeface="Arial"/>
                <a:ea typeface="Arial"/>
                <a:cs typeface="Arial"/>
              </a:rPr>
              <a:t>#C #C++ #Python #Assembly</a:t>
            </a:r>
          </a:p>
          <a:p xmlns:a="http://schemas.openxmlformats.org/drawingml/2006/main">
            <a:r>
              <a:rPr>
                <a:solidFill>
                  <a:srgbClr val="7E7E7E"/>
                </a:solidFill>
                <a:latin typeface="Arial"/>
                <a:ea typeface="Arial"/>
                <a:cs typeface="Arial"/>
              </a:rPr>
              <a:t>#TensorFlow #PyTorch #Qt #OpenCV #YOLO</a:t>
            </a:r>
          </a:p>
          <a:p xmlns:a="http://schemas.openxmlformats.org/drawingml/2006/main">
            <a:r>
              <a:rPr>
                <a:solidFill>
                  <a:srgbClr val="7E7E7E"/>
                </a:solidFill>
                <a:latin typeface="Arial"/>
                <a:ea typeface="Arial"/>
                <a:cs typeface="Arial"/>
              </a:rPr>
              <a:t>#StableDiffusion #LLM #Bash #Matlab #LabVIEW</a:t>
            </a:r>
          </a:p>
        </p:txBody>
      </p:sp>
    </p:spTree>
    <p:extLst>
      <p:ext uri="{BB962C8B-B14F-4D97-AF65-F5344CB8AC3E}">
        <p14:creationId xmlns:p14="http://schemas.microsoft.com/office/powerpoint/2010/main" val="1344733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" name="表格 4"/>
          <p:cNvGraphicFramePr/>
          <p:nvPr/>
        </p:nvGraphicFramePr>
        <p:xfrm>
          <a:off xmlns:a="http://schemas.openxmlformats.org/drawingml/2006/main" x="625642" y="856754"/>
          <a:ext xmlns:a="http://schemas.openxmlformats.org/drawingml/2006/main" cx="10940717" cy="517693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996593"/>
                <a:gridCol w="2486031"/>
                <a:gridCol w="2486031"/>
                <a:gridCol w="2486031"/>
                <a:gridCol w="2486031"/>
              </a:tblGrid>
              <a:tr h="658229">
                <a:tc>
                  <a:txBody>
                    <a:bodyPr/>
                    <a:lstStyle/>
                    <a:p>
                      <a:pPr algn="ctr">
                        <a:buNone/>
                      </a:p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九齊科技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800" b="0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NyQuest Technology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亞迪電子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800" b="0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ADE Technology Inc.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元鼎音訊</a:t>
                      </a:r>
                    </a:p>
                    <a:p>
                      <a:pPr algn="ctr">
                        <a:buNone/>
                      </a:pPr>
                      <a:r>
                        <a:rPr sz="1800" b="0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UnlimiterHear Co.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lt1"/>
                          </a:solidFill>
                        </a:rPr>
                        <a:t>廣達電腦 / 中央研究院</a:t>
                      </a:r>
                    </a:p>
                    <a:p>
                      <a:pPr algn="ctr">
                        <a:buNone/>
                      </a:pPr>
                      <a:r>
                        <a:rPr sz="1800" b="1" i="0">
                          <a:solidFill>
                            <a:schemeClr val="lt1"/>
                          </a:solidFill>
                          <a:latin typeface="+mn-lt"/>
                          <a:ea typeface="+mn-lt"/>
                          <a:cs typeface="+mn-lt"/>
                        </a:rPr>
                        <a:t>Quanta / Academia Sinica</a:t>
                      </a:r>
                    </a:p>
                  </a:txBody>
                  <a:tcPr marL="91440" marR="91440" marT="45720" marB="45720" anchor="ctr"/>
                </a:tc>
              </a:tr>
              <a:tr h="7229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Product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Voice-control IC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Voice MCU / LCD MCU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Vital signs monitor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Thermal posture system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Hearing aids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Bluetooth headphones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RF components</a:t>
                      </a:r>
                    </a:p>
                    <a:p>
                      <a:pPr algn="ctr">
                        <a:buNone/>
                      </a:pPr>
                      <a:r>
                        <a:t>iSCAT paper</a:t>
                      </a:r>
                    </a:p>
                  </a:txBody>
                  <a:tcPr marL="91440" marR="91440" marT="45720" marB="45720" anchor="ctr"/>
                </a:tc>
              </a:tr>
              <a:tr h="10989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Work content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Char char="•"/>
                      </a:pPr>
                      <a:r>
                        <a:rPr b="0" i="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Speech algorithm library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ADPCM/SBC, pitch tracking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WSOLA, feedback suppression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 b="0" i="0" u="none"/>
                        <a:t>image scaling/compression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b="0" i="0" u="none">
                          <a:solidFill>
                            <a:srgbClr val="000000"/>
                          </a:solidFill>
                        </a:rPr>
                        <a:t>Radar vital-sign algorithms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GUI labeling tools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b="0" i="0" u="none">
                          <a:solidFill>
                            <a:srgbClr val="000000"/>
                          </a:solidFill>
                        </a:rPr>
                        <a:t>ML/DL symptom recognition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b="0" i="0" u="none">
                          <a:solidFill>
                            <a:srgbClr val="000000"/>
                          </a:solidFill>
                        </a:rPr>
                        <a:t>OpenCV/YOLO fall detection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DSP on CSR/AB chips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VAD/LRT/noise reduction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EQ/DRC/binaural beats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patent collaboration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800" b="0" i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Automated RF tests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 b="0" i="0">
                          <a:solidFill>
                            <a:schemeClr val="dk1"/>
                          </a:solidFill>
                          <a:latin typeface="+mn-lt"/>
                          <a:ea typeface="+mn-lt"/>
                          <a:cs typeface="+mn-lt"/>
                        </a:rPr>
                        <a:t>yield/error analysis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nanoparticle tracking</a:t>
                      </a:r>
                    </a:p>
                    <a:p>
                      <a:pPr marL="285750" indent="-285750">
                        <a:buChar char="•"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Optics Express paper</a:t>
                      </a:r>
                    </a:p>
                  </a:txBody>
                  <a:tcPr marL="91440" marR="91440" marT="45720" marB="45720" anchor="ctr"/>
                </a:tc>
              </a:tr>
              <a:tr h="9611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During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2022/11 ~ now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2020/07 ~ 2022/10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2016/05 ~ 2020/06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2014/11 ~ 2016/05</a:t>
                      </a:r>
                    </a:p>
                    <a:p>
                      <a:pPr algn="ctr">
                        <a:buNone/>
                      </a:pPr>
                      <a:r>
                        <a:t>2013/07 ~ 2014/04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C62B14E-F4F4-47D4-BB3C-C8D87CCC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112204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284C6D-1AE9-43FC-93A2-C3DD9FF2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990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9D6AE6-8C35-4FD4-97CF-FC235CC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310283-68CC-4BDB-9B36-CDF532C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1845A2-00D1-4B73-A858-F57E6E6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NyQuest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2022/11 ~ now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1F4BBE-C3AA-47E7-A37C-D2A56254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60C4350-E3F4-4A43-86B8-80013C0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2020/07 ~ 2022/10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BBDC29-21C6-49FD-8D24-35602169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1BBEFC-B1BD-42EA-899C-0B312090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UnlimiterHear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2016/05 ~ 2020/06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C15379-99B0-4A9A-80CD-3EAB854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57250"/>
            <a:ext cx="24860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328038E-1CC1-44DA-8DD4-FDA415A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76300"/>
            <a:ext cx="24479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Quanta / Academia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2014/11 ~ 2016/05, 2013/07 ~ 2014/04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BC5731E-0BEC-4133-AE5E-3CFF743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90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36E6FF5-F5C3-4995-A034-9F98ADA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95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2BFD3B-6A03-4208-B2F5-F0DED47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2188FB-A73D-40C2-AEC2-F784622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Voice-control IC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Voice MCU / LCD MCU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60D64E1-5A45-4696-8D9E-B8F0CB80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2309F84-0901-4DC5-B662-C1F8887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Vital signs monitor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Thermal posture system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71AFD55-A569-4D4C-B574-D30D454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0A97BFB-C6F6-47D5-B7C1-AE21222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Hearing aids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Bluetooth headphones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942958B-09B4-4C6D-806D-02EFE48A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04950"/>
            <a:ext cx="24860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3EE8DAE-2575-48CA-B601-429A090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24000"/>
            <a:ext cx="2447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RF components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iSCAT paper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2DE167E-8FD2-46AF-A717-3EB8DCF6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990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615B34E-9079-4952-B6E8-A3809A16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95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9BD064A-4667-4195-9F32-4757C54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E0BB5F0-D837-4ABD-AD0B-B8F9532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Speech algorithm library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ADPCM / SBC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Pitch tracking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WSOLA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Feedback suppression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 scaling / compression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4C92CA6-7B42-490A-ACA7-1B8BAF6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94F57A8-7D87-4740-8CB5-76625940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Radar vital-sign algorithms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GUI labeling tool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ML/DL symptom recognition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OpenCV / YOLO fall detection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4A9D6D0-97F0-4F49-A38D-14AEE448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D287B48-2D31-446D-8D92-7B81EFF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DSP on CSR / AB chips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VAD / LRT / noise reduction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EQ / DRC / binaural beats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Natural sound generation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Patent collaboration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A8CC79B-D7CB-4C33-A5D4-EE711824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05050"/>
            <a:ext cx="24860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E02F703-E63F-418A-BE5E-8F77D40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24479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Automated RF tests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Yield and error analysis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Nanoparticle localization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Random-walk tracking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Optics Express paper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F0C5672-C267-4D8E-A817-79918CD4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29BC10D-C308-4620-9467-073517F0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Focus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4AF5E6F-3C5B-48AC-81CD-FF86032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113DCD7-9FDB-4EB3-B5AC-723271E5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MCU optimization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+ C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711F085-DE8F-488B-8573-AA42F7E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875BCCC-0589-4D7E-B86B-30067C4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Physiological signal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Computer vision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4F25514-2457-4871-9B01-99DD9F4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AB96FFA-A62E-4D19-8753-3586419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Audio DSP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Embedded implementation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596F0F-57E8-428A-882C-43D7BB27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95700"/>
            <a:ext cx="24860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8FB749C0-85AC-4AB1-A31E-B7573DC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24479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66675" tIns="47625" rIns="66675" bIns="47625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Instrumentation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data analysis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C3ECAB5-1025-425B-8C76-12C024CD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10934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319321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NyQuest Technology Co. Ltd.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0F07F60-5462-9107-0BF0-67A689CBBE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1109" y="1000833"/>
            <a:ext cx="9372600" cy="5445175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Speech algorithm library for voice-control IC, voice MCU, and LCD MCU</a:t>
            </a:r>
          </a:p>
          <a:p xmlns:a="http://schemas.openxmlformats.org/drawingml/2006/main">
            <a:pPr marL="914400" indent="-457200">
              <a:buAutoNum type="arabicPeriod"/>
            </a:pPr>
            <a:r>
              <a:t>Python simulation; C implementation on resource-constrained MCU</a:t>
            </a:r>
          </a:p>
          <a:p xmlns:a="http://schemas.openxmlformats.org/drawingml/2006/main">
            <a:pPr marL="914400" indent="-457200">
              <a:buAutoNum type="arabicPeriod"/>
            </a:pPr>
            <a:r>
              <a:t>Audio encoding: ADPCM / SBC</a:t>
            </a:r>
          </a:p>
          <a:p xmlns:a="http://schemas.openxmlformats.org/drawingml/2006/main">
            <a:pPr marL="914400" indent="-457200">
              <a:buAutoNum type="arabicPeriod"/>
            </a:pPr>
            <a:r>
              <a:t>Pitch tracking; time-stretching and pitch-shifting: resampling + WSOLA</a:t>
            </a:r>
          </a:p>
          <a:p xmlns:a="http://schemas.openxmlformats.org/drawingml/2006/main">
            <a:r>
              <a:rPr>
                <a:solidFill>
                  <a:srgbClr val="000000"/>
                </a:solidFill>
              </a:rPr>
              <a:t>Feedback suppression, syllable segmentation, and beat tracking</a:t>
            </a:r>
          </a:p>
          <a:p xmlns:a="http://schemas.openxmlformats.org/drawingml/2006/main">
            <a:pPr marL="971550" indent="-514350">
              <a:buAutoNum type="arabicPeriod"/>
            </a:pPr>
            <a:r>
              <a:t>Image scaling and image compression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662061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064603F-BD10-177E-BC10-EDDC7F576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5312" y="0"/>
            <a:ext cx="654165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Inc.(1)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01AB129-5086-2950-D9E3-1CE5969149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5312" y="1094497"/>
            <a:ext cx="7503695" cy="1984193"/>
          </a:xfrm>
        </p:spPr>
        <p:txBody>
          <a:bodyPr xmlns:a="http://schemas.openxmlformats.org/drawingml/2006/main">
            <a:normAutofit fontScale="86899"/>
          </a:bodyPr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Non-contact vital-sign monitoring by microwave radar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Python simulation and C++ implementation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IIR / STFT / GMM / autocorrelation feature pipeline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Random Forest / CNN / DNN symptom recognition</a:t>
            </a:r>
          </a:p>
        </p:txBody>
      </p:sp>
      <p:pic>
        <p:nvPicPr>
          <p:cNvPr id="4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b624092a34800"/>
          <a:srcRect xmlns:a="http://schemas.openxmlformats.org/drawingml/2006/main" l="2219" t="11625" r="4056" b="7787"/>
          <a:stretch xmlns:a="http://schemas.openxmlformats.org/drawingml/2006/main"/>
        </p:blipFill>
        <p:spPr>
          <a:xfrm xmlns:a="http://schemas.openxmlformats.org/drawingml/2006/main">
            <a:off x="2571234" y="3078690"/>
            <a:ext cx="4614657" cy="3256229"/>
          </a:xfrm>
          <a:prstGeom xmlns:a="http://schemas.openxmlformats.org/drawingml/2006/main" prst="rect">
            <a:avLst/>
          </a:prstGeom>
        </p:spPr>
      </p:pic>
      <p:pic>
        <p:nvPicPr>
          <p:cNvPr id="5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7860d87f8402d"/>
          <a:srcRect xmlns:a="http://schemas.openxmlformats.org/drawingml/2006/main" l="47746" t="11385" r="29826" b="24308"/>
          <a:stretch xmlns:a="http://schemas.openxmlformats.org/drawingml/2006/main"/>
        </p:blipFill>
        <p:spPr>
          <a:xfrm xmlns:a="http://schemas.openxmlformats.org/drawingml/2006/main">
            <a:off x="7834624" y="1098560"/>
            <a:ext cx="2424209" cy="52247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945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a9964132f4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304" y="-351431"/>
            <a:ext cx="10054675" cy="7572411"/>
          </a:xfrm>
          <a:prstGeom xmlns:a="http://schemas.openxmlformats.org/drawingml/2006/main" prst="rect">
            <a:avLst/>
          </a:prstGeom>
        </p:spPr>
      </p:pic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064603F-BD10-177E-BC10-EDDC7F576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3880" y="0"/>
            <a:ext cx="6363247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Inc.(2)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01AB129-5086-2950-D9E3-1CE5969149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3880" y="1103734"/>
            <a:ext cx="6363248" cy="1778012"/>
          </a:xfrm>
        </p:spPr>
        <p:txBody>
          <a:bodyPr xmlns:a="http://schemas.openxmlformats.org/drawingml/2006/main" vert="horz" lIns="91440" tIns="45720" rIns="91440" bIns="45720" anchor="t">
            <a:normAutofit fontScale="76720"/>
          </a:bodyPr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Vital-sign waveform pre-training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IIR / STFT feature extraction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IWGAN-AE pre-training and augmentation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Radar waveform robustness experiments</a:t>
            </a:r>
          </a:p>
        </p:txBody>
      </p:sp>
    </p:spTree>
    <p:extLst>
      <p:ext uri="{BB962C8B-B14F-4D97-AF65-F5344CB8AC3E}">
        <p14:creationId xmlns:p14="http://schemas.microsoft.com/office/powerpoint/2010/main" val="32738753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38FEBBD-9F54-AC10-DCB4-A8A694C7C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9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Inc.(3)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6F5E4AD-3417-74E9-45EB-3154BCDE45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6674" y="1108870"/>
            <a:ext cx="5654972" cy="2765887"/>
          </a:xfrm>
        </p:spPr>
        <p:txBody>
          <a:bodyPr xmlns:a="http://schemas.openxmlformats.org/drawingml/2006/main" vert="horz" lIns="91440" tIns="45720" rIns="91440" bIns="45720" anchor="t">
            <a:normAutofit fontScale="94018"/>
          </a:bodyPr>
          <a:lstStyle xmlns:a="http://schemas.openxmlformats.org/drawingml/2006/main"/>
          <a:p xmlns:a="http://schemas.openxmlformats.org/drawingml/2006/main">
            <a:r>
              <a:rPr>
                <a:latin typeface="open sans"/>
                <a:ea typeface="open sans"/>
                <a:cs typeface="open sans"/>
              </a:rPr>
              <a:t>Thermal image posture and fall detection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OpenCV + YOLO thermal-image pipeline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latin typeface="open sans"/>
                <a:ea typeface="open sans"/>
                <a:cs typeface="open sans"/>
              </a:rPr>
              <a:t>3 classes: lying, sitting, standing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latin typeface="open sans"/>
                <a:ea typeface="open sans"/>
                <a:cs typeface="open sans"/>
              </a:rPr>
              <a:t>Fall alert for healthcare scenarios</a:t>
            </a:r>
          </a:p>
        </p:txBody>
      </p:sp>
      <p:pic>
        <p:nvPicPr>
          <p:cNvPr id="4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463e714a940e3"/>
          <a:srcRect xmlns:a="http://schemas.openxmlformats.org/drawingml/2006/main" l="32746" t="3935" r="147" b="27034"/>
          <a:stretch xmlns:a="http://schemas.openxmlformats.org/drawingml/2006/main"/>
        </p:blipFill>
        <p:spPr>
          <a:xfrm xmlns:a="http://schemas.openxmlformats.org/drawingml/2006/main">
            <a:off x="6096928" y="209040"/>
            <a:ext cx="5617642" cy="3673303"/>
          </a:xfrm>
          <a:prstGeom xmlns:a="http://schemas.openxmlformats.org/drawingml/2006/main" prst="rect">
            <a:avLst/>
          </a:prstGeom>
        </p:spPr>
      </p:pic>
      <p:pic>
        <p:nvPicPr>
          <p:cNvPr id="5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55108c7f0444d"/>
          <a:srcRect xmlns:a="http://schemas.openxmlformats.org/drawingml/2006/main" l="24196" t="22687" r="40283" b="37910"/>
          <a:stretch xmlns:a="http://schemas.openxmlformats.org/drawingml/2006/main"/>
        </p:blipFill>
        <p:spPr>
          <a:xfrm xmlns:a="http://schemas.openxmlformats.org/drawingml/2006/main">
            <a:off x="258606" y="3945856"/>
            <a:ext cx="5433628" cy="2603431"/>
          </a:xfrm>
          <a:prstGeom xmlns:a="http://schemas.openxmlformats.org/drawingml/2006/main" prst="rect">
            <a:avLst/>
          </a:prstGeom>
        </p:spPr>
      </p:pic>
      <p:pic>
        <p:nvPicPr>
          <p:cNvPr id="6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06fcf47bf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463" y="4011979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7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344f1a7b64f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928" y="5436960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8" name="圖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494bd5e4d42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3821" y="4016384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9" name="圖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9105a76b546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1532" y="5436960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0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82796352a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180" y="4016384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1" name="圖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6763c4e0b47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9267" y="5436960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2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7ade562e2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9293" y="4016384"/>
            <a:ext cx="1290482" cy="1290482"/>
          </a:xfrm>
          <a:prstGeom xmlns:a="http://schemas.openxmlformats.org/drawingml/2006/main" prst="rect">
            <a:avLst/>
          </a:prstGeom>
        </p:spPr>
      </p:pic>
      <p:pic>
        <p:nvPicPr>
          <p:cNvPr id="13" name="圖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38d3177504b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1380" y="5436960"/>
            <a:ext cx="1290482" cy="12904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26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38FEBBD-9F54-AC10-DCB4-A8A694C7C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479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ADE Technology Inc.(4)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6F5E4AD-3417-74E9-45EB-3154BCDE45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6674" y="1108870"/>
            <a:ext cx="5839326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GUI Tool for vital-sign waveform dataset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Data visualization and labeling workflow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Client-server model between Windows and Linux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Bash / PowerShell automation for data collection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SMAC step motor simulates breathing and heartbeat</a:t>
            </a:r>
          </a:p>
        </p:txBody>
      </p:sp>
      <p:pic>
        <p:nvPicPr>
          <p:cNvPr id="4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df0773d2b42ed"/>
          <a:srcRect xmlns:a="http://schemas.openxmlformats.org/drawingml/2006/main" l="47" t="4148" r="236" b="5808"/>
          <a:stretch xmlns:a="http://schemas.openxmlformats.org/drawingml/2006/main"/>
        </p:blipFill>
        <p:spPr>
          <a:xfrm xmlns:a="http://schemas.openxmlformats.org/drawingml/2006/main">
            <a:off x="6352677" y="333703"/>
            <a:ext cx="5534524" cy="4059143"/>
          </a:xfrm>
          <a:prstGeom xmlns:a="http://schemas.openxmlformats.org/drawingml/2006/main" prst="rect">
            <a:avLst/>
          </a:prstGeom>
        </p:spPr>
      </p:pic>
      <p:pic>
        <p:nvPicPr>
          <p:cNvPr id="5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3a288e0864aa5"/>
          <a:srcRect xmlns:a="http://schemas.openxmlformats.org/drawingml/2006/main" l="0" t="5909" r="0" b="35718"/>
          <a:stretch xmlns:a="http://schemas.openxmlformats.org/drawingml/2006/main"/>
        </p:blipFill>
        <p:spPr>
          <a:xfrm xmlns:a="http://schemas.openxmlformats.org/drawingml/2006/main">
            <a:off x="2089642" y="4716463"/>
            <a:ext cx="8012718" cy="18784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06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726F799-A0AA-0B6C-CD4E-4F34A72F6F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7981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0" i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UnlimiterHear Co.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6FDB582-77A0-F9F0-2C96-C5087E9393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6636" y="1209425"/>
            <a:ext cx="5589364" cy="5343775"/>
          </a:xfrm>
        </p:spPr>
        <p:txBody>
          <a:bodyPr xmlns:a="http://schemas.openxmlformats.org/drawingml/2006/main">
            <a:normAutofit fontScale="89064" lnSpcReduction="10000"/>
          </a:bodyPr>
          <a:lstStyle xmlns:a="http://schemas.openxmlformats.org/drawingml/2006/main"/>
          <a:p xmlns:a="http://schemas.openxmlformats.org/drawingml/2006/main">
            <a:r>
              <a:rPr b="0" i="0" u="none">
                <a:solidFill>
                  <a:srgbClr val="000000"/>
                </a:solidFill>
              </a:rPr>
              <a:t>DSP (C or Assembly)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>
                <a:solidFill>
                  <a:srgbClr val="000000"/>
                </a:solidFill>
              </a:rPr>
              <a:t>Convert floating-point algorithms to fixed-point operation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 u="none">
                <a:solidFill>
                  <a:srgbClr val="000000"/>
                </a:solidFill>
              </a:rPr>
              <a:t>Voice enhancement: VAD, LRT, noise cancellation, subwoofer tune</a:t>
            </a:r>
          </a:p>
          <a:p xmlns:a="http://schemas.openxmlformats.org/drawingml/2006/main">
            <a:r>
              <a:rPr>
                <a:solidFill>
                  <a:srgbClr val="000000"/>
                </a:solidFill>
              </a:rPr>
              <a:t>Hearing protection: EQ, DRC, binaural beat generation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 u="none">
                <a:solidFill>
                  <a:srgbClr val="000000"/>
                </a:solidFill>
              </a:rPr>
              <a:t>Natural sound generation: random number, white noise, droplet physics</a:t>
            </a:r>
          </a:p>
          <a:p xmlns:a="http://schemas.openxmlformats.org/drawingml/2006/main">
            <a:pPr marL="914400" indent="-457200">
              <a:buAutoNum type="arabicPeriod"/>
            </a:pPr>
            <a:r>
              <a:rPr b="0" i="0" u="none">
                <a:solidFill>
                  <a:srgbClr val="000000"/>
                </a:solidFill>
              </a:rPr>
              <a:t>Patent collaboration: hearing protection and masking-noise methods</a:t>
            </a:r>
          </a:p>
        </p:txBody>
      </p:sp>
      <p:pic>
        <p:nvPicPr>
          <p:cNvPr id="4" name="wl 20200330 test GLFSR - 雨滴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71e6aa4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594" y="5402012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0C8288FB-0A28-FE50-470C-2F37B7F6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53" y="5522146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雨滴</a:t>
            </a:r>
          </a:p>
        </p:txBody>
      </p:sp>
      <p:pic>
        <p:nvPicPr>
          <p:cNvPr id="7" name="wl 20200330 test GLFSR - 雨滴水池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71e6aa4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1266" y="5402012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" name="文字方塊 6">
            <a:extLst xmlns:a="http://schemas.openxmlformats.org/drawingml/2006/main">
              <a:ext uri="{FF2B5EF4-FFF2-40B4-BE49-F238E27FC236}">
                <a16:creationId xmlns:a16="http://schemas.microsoft.com/office/drawing/2014/main" id="{89C69B16-394B-64B3-833F-663A909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935" y="5522146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水池</a:t>
            </a:r>
          </a:p>
        </p:txBody>
      </p:sp>
      <p:pic>
        <p:nvPicPr>
          <p:cNvPr id="9" name="G02A0041a-SUM_in car on highway_SNR set5_in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71e6aa4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594" y="3000918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F0DD72AF-A6F9-B14F-26B3-7E176598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021" y="3116587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降噪前</a:t>
            </a:r>
          </a:p>
        </p:txBody>
      </p:sp>
      <p:pic>
        <p:nvPicPr>
          <p:cNvPr id="13" name="G02A0041a-SUM_in car on highway_SNR set5_Mu1_out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71e6aa4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2553" y="3000918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5FFA1415-4896-6FBA-AEE8-B5C59F78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982" y="3121052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降噪後</a:t>
            </a:r>
          </a:p>
        </p:txBody>
      </p:sp>
      <p:pic>
        <p:nvPicPr>
          <p:cNvPr id="15" name="about I love you 44kH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71e6aa4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594" y="4373751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7" name="文字方塊 16">
            <a:extLst xmlns:a="http://schemas.openxmlformats.org/drawingml/2006/main">
              <a:ext uri="{FF2B5EF4-FFF2-40B4-BE49-F238E27FC236}">
                <a16:creationId xmlns:a16="http://schemas.microsoft.com/office/drawing/2014/main" id="{EFF43B41-85A4-8295-F7AC-E3B6187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188" y="4489420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原始音樂</a:t>
            </a:r>
          </a:p>
        </p:txBody>
      </p:sp>
      <p:pic>
        <p:nvPicPr>
          <p:cNvPr id="18" name="about I love you 44kHz - Hibert shift 5H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771e6aa4040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2553" y="4373751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0" name="文字方塊 19">
            <a:extLst xmlns:a="http://schemas.openxmlformats.org/drawingml/2006/main">
              <a:ext uri="{FF2B5EF4-FFF2-40B4-BE49-F238E27FC236}">
                <a16:creationId xmlns:a16="http://schemas.microsoft.com/office/drawing/2014/main" id="{29747F8E-D6F1-88CC-2D11-FFA1CF2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47" y="4489420"/>
            <a:ext cx="111601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±5Hz拍音</a:t>
            </a:r>
          </a:p>
        </p:txBody>
      </p:sp>
    </p:spTree>
    <p:extLst>
      <p:ext uri="{BB962C8B-B14F-4D97-AF65-F5344CB8AC3E}">
        <p14:creationId xmlns:p14="http://schemas.microsoft.com/office/powerpoint/2010/main" val="36888727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08B9512-25A2-7375-2965-C8F56C5EA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6454" y="1825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i="0">
                <a:solidFill>
                  <a:srgbClr val="202122"/>
                </a:solidFill>
                <a:latin typeface="open sans"/>
                <a:ea typeface="open sans"/>
                <a:cs typeface="open sans"/>
              </a:rPr>
              <a:t>Academia Sinica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65DC786-9B22-5D31-2ED9-75A6D65C4E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96454" y="1151369"/>
            <a:ext cx="5417229" cy="4963104"/>
          </a:xfrm>
        </p:spPr>
        <p:txBody>
          <a:bodyPr xmlns:a="http://schemas.openxmlformats.org/drawingml/2006/main">
            <a:normAutofit fontScale="91930"/>
          </a:bodyPr>
          <a:lstStyle xmlns:a="http://schemas.openxmlformats.org/drawingml/2006/main"/>
          <a:p xmlns:a="http://schemas.openxmlformats.org/drawingml/2006/main">
            <a:pPr marL="285750" indent="-285750">
              <a:buChar char="•"/>
            </a:pPr>
            <a:r>
              <a:rPr b="0" i="0">
                <a:solidFill>
                  <a:schemeClr val="dk1"/>
                </a:solidFill>
              </a:rPr>
              <a:t>Nano-particles on cell membrane imaged by CMOS high-speed camera (1k ~ 100k fps)</a:t>
            </a:r>
          </a:p>
          <a:p xmlns:a="http://schemas.openxmlformats.org/drawingml/2006/main">
            <a:pPr marL="285750" indent="-285750">
              <a:buChar char="•"/>
            </a:pPr>
            <a:r>
              <a:rPr b="0" i="0">
                <a:solidFill>
                  <a:schemeClr val="dk1"/>
                </a:solidFill>
              </a:rPr>
              <a:t>Interferometric scattering optical microscope (iSCAT)</a:t>
            </a:r>
          </a:p>
          <a:p xmlns:a="http://schemas.openxmlformats.org/drawingml/2006/main">
            <a:r>
              <a:rPr b="0" i="0">
                <a:solidFill>
                  <a:schemeClr val="dk1"/>
                </a:solidFill>
              </a:rPr>
              <a:t>Nano-particle localization and random-walk tracking</a:t>
            </a:r>
          </a:p>
          <a:p xmlns:a="http://schemas.openxmlformats.org/drawingml/2006/main">
            <a:pPr marL="971550" indent="-514350">
              <a:buAutoNum type="arabicPeriod"/>
            </a:pPr>
            <a:r>
              <a:t>Trajectory data analysis for cell membrane physical properties</a:t>
            </a:r>
          </a:p>
          <a:p xmlns:a="http://schemas.openxmlformats.org/drawingml/2006/main">
            <a:pPr marL="971550" indent="-514350">
              <a:buAutoNum type="arabicPeriod"/>
            </a:pPr>
            <a:r>
              <a:t>Optics Express: shot-noise limited localization of single 20 nm gold particles</a:t>
            </a:r>
          </a:p>
        </p:txBody>
      </p:sp>
      <p:pic>
        <p:nvPicPr>
          <p:cNvPr id="4" name="vaccinia_virus_tracking_Cine41_vide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d2c191b8241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403652"/>
            <a:ext cx="2555290" cy="2555290"/>
          </a:xfrm>
          <a:prstGeom xmlns:a="http://schemas.openxmlformats.org/drawingml/2006/main" prst="rect">
            <a:avLst/>
          </a:prstGeom>
        </p:spPr>
      </p:pic>
      <p:pic>
        <p:nvPicPr>
          <p:cNvPr id="5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d81defa1c4420"/>
          <a:srcRect xmlns:a="http://schemas.openxmlformats.org/drawingml/2006/main" l="12258" t="38597" r="29805" b="20935"/>
          <a:stretch xmlns:a="http://schemas.openxmlformats.org/drawingml/2006/main"/>
        </p:blipFill>
        <p:spPr>
          <a:xfrm xmlns:a="http://schemas.openxmlformats.org/drawingml/2006/main">
            <a:off x="8833607" y="2293653"/>
            <a:ext cx="3103691" cy="3068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302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/ Deep Learning</a:t>
            </a:r>
          </a:p>
        </p:txBody>
      </p:sp>
      <p:pic>
        <p:nvPicPr>
          <p:cNvPr id="3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52ae0e609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6787" y="328001"/>
            <a:ext cx="2743200" cy="2072449"/>
          </a:xfrm>
          <a:prstGeom xmlns:a="http://schemas.openxmlformats.org/drawingml/2006/main" prst="rect">
            <a:avLst/>
          </a:prstGeom>
        </p:spPr>
      </p:pic>
      <p:pic>
        <p:nvPicPr>
          <p:cNvPr id="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c7feab013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5683" y="328350"/>
            <a:ext cx="2743200" cy="2060620"/>
          </a:xfrm>
          <a:prstGeom xmlns:a="http://schemas.openxmlformats.org/drawingml/2006/main" prst="rect">
            <a:avLst/>
          </a:prstGeom>
        </p:spPr>
      </p:pic>
      <p:pic>
        <p:nvPicPr>
          <p:cNvPr id="5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4baf08ba249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755" y="4963104"/>
            <a:ext cx="1896534" cy="1896534"/>
          </a:xfrm>
          <a:prstGeom xmlns:a="http://schemas.openxmlformats.org/drawingml/2006/main" prst="rect">
            <a:avLst/>
          </a:prstGeom>
        </p:spPr>
      </p:pic>
      <p:pic>
        <p:nvPicPr>
          <p:cNvPr id="6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e925b233b44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4003" y="4964094"/>
            <a:ext cx="1896534" cy="1896534"/>
          </a:xfrm>
          <a:prstGeom xmlns:a="http://schemas.openxmlformats.org/drawingml/2006/main" prst="rect">
            <a:avLst/>
          </a:prstGeom>
        </p:spPr>
      </p:pic>
      <p:pic>
        <p:nvPicPr>
          <p:cNvPr id="7" name="圖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fb9c7903f4eae"/>
          <a:srcRect xmlns:a="http://schemas.openxmlformats.org/drawingml/2006/main" l="0" t="2533" r="-187" b="-368"/>
          <a:stretch xmlns:a="http://schemas.openxmlformats.org/drawingml/2006/main"/>
        </p:blipFill>
        <p:spPr>
          <a:xfrm xmlns:a="http://schemas.openxmlformats.org/drawingml/2006/main">
            <a:off x="4612152" y="3101126"/>
            <a:ext cx="7584379" cy="3755881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Stable Diffusion LoRA / finetune；YOLO mask recognition。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Spine marker image processing：ACE、Homomorphic filter、Canny、Hough Circle。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workflow：Gemini / ChatGPT / Claude / Grok。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Antigravity / Claude Code：協助編碼、驗證與整理脈絡。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定位：把 AI 當作工程放大器，結合演算法、影像處理與 demo 能力。</a:t>
            </a:r>
          </a:p>
        </p:txBody>
      </p:sp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Projects / 近期專案分組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381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介紹順序：先用主題分組，再用代表成果收尾。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 / 開發工作流：Agent Task Manager、Novel Elf。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系統互動工具：Elven Chewing、MIME Text Tool。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音訊 / DSP：Music Elf、IIR Filter Tool。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地圖 / 演算法視覺化：Mapping Star、Mapping Elf、Web TSP App。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共同成果：線上 Demo、GitHub repo、截圖、部署與測試驗證。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2e08dbd684c6b"/>
          <a:stretch xmlns:a="http://schemas.openxmlformats.org/drawingml/2006/main"/>
        </p:blipFill>
        <p:spPr>
          <a:xfrm xmlns:a="http://schemas.openxmlformats.org/drawingml/2006/main">
            <a:off x="7075170" y="1285875"/>
            <a:ext cx="3566160" cy="2476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7b148060744b8"/>
          <a:stretch xmlns:a="http://schemas.openxmlformats.org/drawingml/2006/main"/>
        </p:blipFill>
        <p:spPr>
          <a:xfrm xmlns:a="http://schemas.openxmlformats.org/drawingml/2006/main">
            <a:off x="6191250" y="4219277"/>
            <a:ext cx="2524125" cy="141982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09608b3294577"/>
          <a:stretch xmlns:a="http://schemas.openxmlformats.org/drawingml/2006/main"/>
        </p:blipFill>
        <p:spPr>
          <a:xfrm xmlns:a="http://schemas.openxmlformats.org/drawingml/2006/main">
            <a:off x="9001125" y="4052755"/>
            <a:ext cx="2524125" cy="17528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Workflow / System Tools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381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Task Manager：Node.js/WebSocket + PowerShell。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集中掃描、啟停 dev server，整合 log / health check。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Tailscale/mobile URL，方便 Agent Coding 驗證。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Elven Chewing：Rust + Windows TSF + WebAssembly demo。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注音核心、候選面板、模糊注音、重轉與簡繁切換。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共同價值：本機工具 + 系統輸入 + 瀏覽器 demo，可現場驗證。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03f1a37894c15"/>
          <a:stretch xmlns:a="http://schemas.openxmlformats.org/drawingml/2006/main"/>
        </p:blipFill>
        <p:spPr>
          <a:xfrm xmlns:a="http://schemas.openxmlformats.org/drawingml/2006/main">
            <a:off x="7075170" y="1285875"/>
            <a:ext cx="3566160" cy="2476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5c43ce0ba441c"/>
          <a:stretch xmlns:a="http://schemas.openxmlformats.org/drawingml/2006/main"/>
        </p:blipFill>
        <p:spPr>
          <a:xfrm xmlns:a="http://schemas.openxmlformats.org/drawingml/2006/main">
            <a:off x="7046234" y="4048125"/>
            <a:ext cx="814252" cy="17621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b5154a4094277"/>
          <a:stretch xmlns:a="http://schemas.openxmlformats.org/drawingml/2006/main"/>
        </p:blipFill>
        <p:spPr>
          <a:xfrm xmlns:a="http://schemas.openxmlformats.org/drawingml/2006/main">
            <a:off x="9001125" y="4052803"/>
            <a:ext cx="2524125" cy="17528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Audio DSP / Algorithm Pipeline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381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Music Elf：C++17 DSP，歌聲 -&gt; MIDI/MusicXML。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音高偵測、音符切分、節奏量化、和弦/調性推斷。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IIR Filter Tool：濾波器參數調整與頻率響應視覺化。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把 DSP 設計變成可互動驗證的 demo。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延伸脈絡：呼應 MCU / fixed-point / VAD / LRT / noise cancellation。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aee603fdc4c55"/>
          <a:stretch xmlns:a="http://schemas.openxmlformats.org/drawingml/2006/main"/>
        </p:blipFill>
        <p:spPr>
          <a:xfrm xmlns:a="http://schemas.openxmlformats.org/drawingml/2006/main">
            <a:off x="7075170" y="1285875"/>
            <a:ext cx="3566160" cy="2476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66f4126464ed9"/>
          <a:stretch xmlns:a="http://schemas.openxmlformats.org/drawingml/2006/main"/>
        </p:blipFill>
        <p:spPr>
          <a:xfrm xmlns:a="http://schemas.openxmlformats.org/drawingml/2006/main">
            <a:off x="6191288" y="4140422"/>
            <a:ext cx="2524049" cy="15775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019E36-41E8-1AAF-FB9F-7F69B39E8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09" y="0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/ Algorithm Visualization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8986A5-11C6-48AD-B4F5-8651185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381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Star：React + Leaflet + OSM/Overpass。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POI 搜尋 -&gt; 幾何求解 -&gt; 五/六芒星排列動畫。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- GPX/KML 匯出，展示地圖互動與資料視覺化。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Elf：GPX/KML 路線規劃、高度剖面、天氣時間軸。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TSP App / Hex Snake：路徑最佳化與策略模擬，可說明演算法思考。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7a754fcc142c1"/>
          <a:stretch xmlns:a="http://schemas.openxmlformats.org/drawingml/2006/main"/>
        </p:blipFill>
        <p:spPr>
          <a:xfrm xmlns:a="http://schemas.openxmlformats.org/drawingml/2006/main">
            <a:off x="7075170" y="1409700"/>
            <a:ext cx="3566160" cy="22288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7740b8e2a480c"/>
          <a:stretch xmlns:a="http://schemas.openxmlformats.org/drawingml/2006/main"/>
        </p:blipFill>
        <p:spPr>
          <a:xfrm xmlns:a="http://schemas.openxmlformats.org/drawingml/2006/main">
            <a:off x="6191250" y="4219277"/>
            <a:ext cx="2524125" cy="141982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05eb2535b42c9"/>
          <a:stretch xmlns:a="http://schemas.openxmlformats.org/drawingml/2006/main"/>
        </p:blipFill>
        <p:spPr>
          <a:xfrm xmlns:a="http://schemas.openxmlformats.org/drawingml/2006/main">
            <a:off x="9001125" y="4188825"/>
            <a:ext cx="2524125" cy="14808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6239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2026-05-24T17:28:05.3520000Z</dcterms:created>
  <dcterms:modified xsi:type="dcterms:W3CDTF">2026-05-24T17:28:05.3520000Z</dcterms:modified>
</coreProperties>
</file>